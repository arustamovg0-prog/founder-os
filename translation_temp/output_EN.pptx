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3.jpg" ContentType="image/jpg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微软雅黑" panose="020B0503020204020204" pitchFamily="34" charset="-122"/>
      <p:regular r:id="rId12"/>
      <p:bold r:id="rId13"/>
    </p:embeddedFont>
    <p:embeddedFont>
      <p:font typeface="Liter" panose="02000503030000020004" pitchFamily="2" charset="0"/>
      <p:regular r:id="rId14"/>
    </p:embeddedFon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C0FF03"/>
    <a:srgbClr val="A4DA1A"/>
    <a:srgbClr val="97A764"/>
    <a:srgbClr val="C6D77E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18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ppng.com/448dec27b7c2d7e4afcf8c6cded10c7eb63d07da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2529" b="125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1000" y="1487835"/>
            <a:ext cx="3028950" cy="381000"/>
          </a:xfrm>
          <a:custGeom>
            <a:avLst/>
            <a:gdLst/>
            <a:ahLst/>
            <a:cxnLst/>
            <a:rect l="l" t="t" r="r" b="b"/>
            <a:pathLst>
              <a:path w="3028950" h="381000">
                <a:moveTo>
                  <a:pt x="0" y="0"/>
                </a:moveTo>
                <a:lnTo>
                  <a:pt x="3028950" y="0"/>
                </a:lnTo>
                <a:lnTo>
                  <a:pt x="30289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81000" y="1487835"/>
            <a:ext cx="310515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PARTNERSHIP OFFER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79333" y="2290120"/>
            <a:ext cx="126717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355628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0" y="0"/>
                </a:moveTo>
                <a:lnTo>
                  <a:pt x="762000" y="0"/>
                </a:lnTo>
                <a:lnTo>
                  <a:pt x="762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71600" y="3198465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partnership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922365"/>
            <a:ext cx="5967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creating the main assembly point for startups, investors and the venture market of Uzbekistan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405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81000" y="56388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9817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Akmal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2484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OS Architect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53853" y="598170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Nuriddin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53853" y="6248400"/>
            <a:ext cx="1946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Ecosystem Lead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13231" y="59055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75131" y="61722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PITCH DEC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5B6F212-B9AE-766C-9386-D12B0F25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195113"/>
            <a:ext cx="3368467" cy="6781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will we discuss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0" y="0"/>
                </a:moveTo>
                <a:lnTo>
                  <a:pt x="5581650" y="0"/>
                </a:lnTo>
                <a:lnTo>
                  <a:pt x="55816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00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23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1910" y="19812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18669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2286000"/>
            <a:ext cx="430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the market needs changes: the pain of startups and coworking spaces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0" y="0"/>
                </a:moveTo>
                <a:lnTo>
                  <a:pt x="5581650" y="0"/>
                </a:lnTo>
                <a:lnTo>
                  <a:pt x="55816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293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53200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80522" y="21050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7100" y="1990725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2409825"/>
            <a:ext cx="4086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2.0 - infrastructure layer for founders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00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39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181" y="38862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0" y="3771900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ROI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4191000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does a coworking space get from the partnership?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293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5532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9629" y="38862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7100" y="3771900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Partnership model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4191000"/>
            <a:ext cx="3152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Win-Win integration on a barter basis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04825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00050" y="504825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23900" y="542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1818" y="55435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47800" y="5429250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5848350"/>
            <a:ext cx="2143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for the next 60 days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504825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229350" y="504825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53200" y="542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678588" y="5543550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77100" y="5429250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77100" y="5848350"/>
            <a:ext cx="2600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 to discuss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Selling tables to freelancers -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not building an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6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2950" y="2419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1100" y="23812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Pain of Startups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3300413"/>
            <a:ext cx="144534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4148137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in Uzbekistan are drowning in manual operating systems and do not live to see the first investments. They don't need motivational meetups, but tools.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4475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83075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40238" y="2419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54575" y="23812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pain of coworking spaces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3075" y="3586163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churn rate of tenants. Startups burn money and move out.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3075" y="4233863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locations lack a quality community that retains residents for years.</a:t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950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5655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3713" y="2419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28050" y="238125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6550" y="3724275"/>
            <a:ext cx="3314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market needs a system filter and infrastructure that turns garage ideas into businesses with solid unit economics.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888605" y="6281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05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market is oversaturated with “motivation”, but lacks real tools for growth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DECISION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UNTITLED 2.0 — Infrastructure layer for founders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04925"/>
            <a:ext cx="5915025" cy="1466850"/>
          </a:xfrm>
          <a:custGeom>
            <a:avLst/>
            <a:gdLst/>
            <a:ahLst/>
            <a:cxnLst/>
            <a:rect l="l" t="t" r="r" b="b"/>
            <a:pathLst>
              <a:path w="5915025" h="1466850">
                <a:moveTo>
                  <a:pt x="0" y="0"/>
                </a:moveTo>
                <a:lnTo>
                  <a:pt x="5915025" y="0"/>
                </a:lnTo>
                <a:lnTo>
                  <a:pt x="591502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0050" y="130492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09600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3425" y="164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95400" y="149542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we doing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838325"/>
            <a:ext cx="4905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come to startups, conduct a rigorous audit, implement AI agents, collect financial models and package projects for venture funds.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924175"/>
            <a:ext cx="5915025" cy="1219200"/>
          </a:xfrm>
          <a:custGeom>
            <a:avLst/>
            <a:gdLst/>
            <a:ahLst/>
            <a:cxnLst/>
            <a:rect l="l" t="t" r="r" b="b"/>
            <a:pathLst>
              <a:path w="5915025" h="1219200">
                <a:moveTo>
                  <a:pt x="0" y="0"/>
                </a:moveTo>
                <a:lnTo>
                  <a:pt x="5915025" y="0"/>
                </a:lnTo>
                <a:lnTo>
                  <a:pt x="591502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0050" y="292417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9600" y="3114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2000" y="3267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95400" y="311467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role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457575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 quality filter between founders and capital. We bring projects to investment readiness.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295775"/>
            <a:ext cx="5915025" cy="1219200"/>
          </a:xfrm>
          <a:custGeom>
            <a:avLst/>
            <a:gdLst/>
            <a:ahLst/>
            <a:cxnLst/>
            <a:rect l="l" t="t" r="r" b="b"/>
            <a:pathLst>
              <a:path w="5915025" h="1219200">
                <a:moveTo>
                  <a:pt x="0" y="0"/>
                </a:moveTo>
                <a:lnTo>
                  <a:pt x="5915025" y="0"/>
                </a:lnTo>
                <a:lnTo>
                  <a:pt x="591502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0050" y="429577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9600" y="4486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7713" y="46386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95400" y="448627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content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4829175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film the entire process of “fixing” startups and turn them into viral reality shows, podcasts and blitz interviews.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01780" y="1304925"/>
            <a:ext cx="5305425" cy="5172075"/>
          </a:xfrm>
          <a:custGeom>
            <a:avLst/>
            <a:gdLst/>
            <a:ahLst/>
            <a:cxnLst/>
            <a:rect l="l" t="t" r="r" b="b"/>
            <a:pathLst>
              <a:path w="5305425" h="5172075">
                <a:moveTo>
                  <a:pt x="0" y="0"/>
                </a:moveTo>
                <a:lnTo>
                  <a:pt x="5305425" y="0"/>
                </a:lnTo>
                <a:lnTo>
                  <a:pt x="5305425" y="5172075"/>
                </a:lnTo>
                <a:lnTo>
                  <a:pt x="0" y="51720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87530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30380" y="2143125"/>
            <a:ext cx="499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are not media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0380" y="2600325"/>
            <a:ext cx="49434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the first Founder OS (Operating System for Startups) in Uzbekistan.</a:t>
            </a: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30380" y="3524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20880" y="34480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audit of 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30380" y="3867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20880" y="37909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modeling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3038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20880" y="413385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Packaging for investors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0380" y="4552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920880" y="44767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Viral content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30380" y="5553075"/>
            <a:ext cx="4848225" cy="19050"/>
          </a:xfrm>
          <a:custGeom>
            <a:avLst/>
            <a:gdLst/>
            <a:ahLst/>
            <a:cxnLst/>
            <a:rect l="l" t="t" r="r" b="b"/>
            <a:pathLst>
              <a:path w="4848225" h="19050">
                <a:moveTo>
                  <a:pt x="0" y="0"/>
                </a:moveTo>
                <a:lnTo>
                  <a:pt x="4848225" y="0"/>
                </a:lnTo>
                <a:lnTo>
                  <a:pt x="48482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30380" y="5715000"/>
            <a:ext cx="496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 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30380" y="60198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 for startups in Uzbekistan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3500" y="57668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7540" y="635831"/>
            <a:ext cx="10820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Founder OS 2.0: From Manual Chaos to Venture Deal</a:t>
            </a: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2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7540" y="1012615"/>
            <a:ext cx="820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don't give advice. We sit down with the founder and rebuild the business at the system level.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00050" y="1431715"/>
            <a:ext cx="5619750" cy="2152650"/>
          </a:xfrm>
          <a:custGeom>
            <a:avLst/>
            <a:gdLst/>
            <a:ahLst/>
            <a:cxnLst/>
            <a:rect l="l" t="t" r="r" b="b"/>
            <a:pathLst>
              <a:path w="5619750" h="2152650">
                <a:moveTo>
                  <a:pt x="38100" y="0"/>
                </a:moveTo>
                <a:lnTo>
                  <a:pt x="5505444" y="0"/>
                </a:lnTo>
                <a:cubicBezTo>
                  <a:pt x="5568574" y="0"/>
                  <a:pt x="5619750" y="51176"/>
                  <a:pt x="5619750" y="114306"/>
                </a:cubicBezTo>
                <a:lnTo>
                  <a:pt x="5619750" y="2038344"/>
                </a:lnTo>
                <a:cubicBezTo>
                  <a:pt x="5619750" y="2101474"/>
                  <a:pt x="5568574" y="2152650"/>
                  <a:pt x="55054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00050" y="1431715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" y="15841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04850" y="171746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8879" y="35719"/>
                </a:moveTo>
                <a:cubicBezTo>
                  <a:pt x="74786" y="35719"/>
                  <a:pt x="71438" y="39067"/>
                  <a:pt x="71438" y="43160"/>
                </a:cubicBezTo>
                <a:lnTo>
                  <a:pt x="71438" y="44648"/>
                </a:lnTo>
                <a:cubicBezTo>
                  <a:pt x="60722" y="44760"/>
                  <a:pt x="52090" y="53467"/>
                  <a:pt x="52090" y="64182"/>
                </a:cubicBezTo>
                <a:cubicBezTo>
                  <a:pt x="52090" y="73744"/>
                  <a:pt x="58973" y="81893"/>
                  <a:pt x="68424" y="83455"/>
                </a:cubicBezTo>
                <a:lnTo>
                  <a:pt x="83939" y="86060"/>
                </a:lnTo>
                <a:cubicBezTo>
                  <a:pt x="86171" y="86432"/>
                  <a:pt x="87809" y="88367"/>
                  <a:pt x="87809" y="90636"/>
                </a:cubicBezTo>
                <a:cubicBezTo>
                  <a:pt x="87809" y="93204"/>
                  <a:pt x="85725" y="95287"/>
                  <a:pt x="83158" y="95287"/>
                </a:cubicBezTo>
                <a:lnTo>
                  <a:pt x="62508" y="95250"/>
                </a:lnTo>
                <a:cubicBezTo>
                  <a:pt x="58415" y="95250"/>
                  <a:pt x="55066" y="98599"/>
                  <a:pt x="55066" y="102691"/>
                </a:cubicBezTo>
                <a:cubicBezTo>
                  <a:pt x="55066" y="106784"/>
                  <a:pt x="58415" y="110133"/>
                  <a:pt x="62508" y="110133"/>
                </a:cubicBezTo>
                <a:lnTo>
                  <a:pt x="71438" y="110133"/>
                </a:lnTo>
                <a:lnTo>
                  <a:pt x="71438" y="111621"/>
                </a:lnTo>
                <a:cubicBezTo>
                  <a:pt x="71438" y="115714"/>
                  <a:pt x="74786" y="119063"/>
                  <a:pt x="78879" y="119063"/>
                </a:cubicBezTo>
                <a:cubicBezTo>
                  <a:pt x="82972" y="119063"/>
                  <a:pt x="86320" y="115714"/>
                  <a:pt x="86320" y="111621"/>
                </a:cubicBezTo>
                <a:lnTo>
                  <a:pt x="86320" y="109872"/>
                </a:lnTo>
                <a:cubicBezTo>
                  <a:pt x="95622" y="108347"/>
                  <a:pt x="102691" y="100310"/>
                  <a:pt x="102691" y="90599"/>
                </a:cubicBezTo>
                <a:cubicBezTo>
                  <a:pt x="102691" y="81037"/>
                  <a:pt x="95808" y="72889"/>
                  <a:pt x="86358" y="71326"/>
                </a:cubicBezTo>
                <a:lnTo>
                  <a:pt x="70842" y="68721"/>
                </a:lnTo>
                <a:cubicBezTo>
                  <a:pt x="68610" y="68349"/>
                  <a:pt x="66973" y="66415"/>
                  <a:pt x="66973" y="64145"/>
                </a:cubicBezTo>
                <a:cubicBezTo>
                  <a:pt x="66973" y="61578"/>
                  <a:pt x="69056" y="59494"/>
                  <a:pt x="71624" y="59494"/>
                </a:cubicBezTo>
                <a:lnTo>
                  <a:pt x="89297" y="59494"/>
                </a:lnTo>
                <a:cubicBezTo>
                  <a:pt x="93390" y="59494"/>
                  <a:pt x="96738" y="56145"/>
                  <a:pt x="96738" y="52053"/>
                </a:cubicBezTo>
                <a:cubicBezTo>
                  <a:pt x="96738" y="47960"/>
                  <a:pt x="93390" y="44611"/>
                  <a:pt x="89297" y="44611"/>
                </a:cubicBezTo>
                <a:lnTo>
                  <a:pt x="86320" y="44611"/>
                </a:lnTo>
                <a:lnTo>
                  <a:pt x="86320" y="43123"/>
                </a:lnTo>
                <a:cubicBezTo>
                  <a:pt x="86320" y="39030"/>
                  <a:pt x="82972" y="35682"/>
                  <a:pt x="78879" y="3568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38238" y="1660315"/>
            <a:ext cx="3128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In-depth audit and business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1937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8514" y="2155615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Revealing “holes” in current operational processes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5175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8514" y="247946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digitize sales funnels and user journeys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8414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8514" y="2803315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transform the product from a “garage MVP” into a scalable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431715"/>
            <a:ext cx="5619750" cy="2152650"/>
          </a:xfrm>
          <a:custGeom>
            <a:avLst/>
            <a:gdLst/>
            <a:ahLst/>
            <a:cxnLst/>
            <a:rect l="l" t="t" r="r" b="b"/>
            <a:pathLst>
              <a:path w="5619750" h="2152650">
                <a:moveTo>
                  <a:pt x="38100" y="0"/>
                </a:moveTo>
                <a:lnTo>
                  <a:pt x="5505444" y="0"/>
                </a:lnTo>
                <a:cubicBezTo>
                  <a:pt x="5568574" y="0"/>
                  <a:pt x="5619750" y="51176"/>
                  <a:pt x="5619750" y="114306"/>
                </a:cubicBezTo>
                <a:lnTo>
                  <a:pt x="5619750" y="2038344"/>
                </a:lnTo>
                <a:cubicBezTo>
                  <a:pt x="5619750" y="2101474"/>
                  <a:pt x="5568574" y="2152650"/>
                  <a:pt x="55054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91250" y="1431715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62700" y="15841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72238" y="171746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50943" y="1688890"/>
            <a:ext cx="35479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 and Automation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2700" y="22699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19714" y="2231815"/>
            <a:ext cx="446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implement individual AI agents into work processes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2700" y="25937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19714" y="255566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bots for lead qualification and support automation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28795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91300" y="2879515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up to 40 hours per month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62700" y="32033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19714" y="3165265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tracking and CRM architecture without complex code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3736765"/>
            <a:ext cx="5619750" cy="1866900"/>
          </a:xfrm>
          <a:custGeom>
            <a:avLst/>
            <a:gdLst/>
            <a:ahLst/>
            <a:cxnLst/>
            <a:rect l="l" t="t" r="r" b="b"/>
            <a:pathLst>
              <a:path w="5619750" h="1866900">
                <a:moveTo>
                  <a:pt x="38100" y="0"/>
                </a:moveTo>
                <a:lnTo>
                  <a:pt x="5505458" y="0"/>
                </a:lnTo>
                <a:cubicBezTo>
                  <a:pt x="5568580" y="0"/>
                  <a:pt x="5619750" y="51170"/>
                  <a:pt x="5619750" y="114292"/>
                </a:cubicBezTo>
                <a:lnTo>
                  <a:pt x="5619750" y="1752608"/>
                </a:lnTo>
                <a:cubicBezTo>
                  <a:pt x="5619750" y="1815730"/>
                  <a:pt x="5568580" y="1866900"/>
                  <a:pt x="550545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Z" dirty="0"/>
          </a:p>
        </p:txBody>
      </p:sp>
      <p:sp>
        <p:nvSpPr>
          <p:cNvPr id="33" name="Shape 31"/>
          <p:cNvSpPr/>
          <p:nvPr/>
        </p:nvSpPr>
        <p:spPr>
          <a:xfrm>
            <a:off x="400050" y="3736765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71500" y="38891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04850" y="40225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43000" y="3981604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 and Finance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4987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8514" y="446066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Killing fantasies: calculating real CAC and LTV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1500" y="48226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8514" y="4784515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financial models (UZS/USD) and Runway calculation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1500" y="51464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8514" y="5108365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bring the startup to the break-even point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50" y="3736765"/>
            <a:ext cx="5619750" cy="1866900"/>
          </a:xfrm>
          <a:custGeom>
            <a:avLst/>
            <a:gdLst/>
            <a:ahLst/>
            <a:cxnLst/>
            <a:rect l="l" t="t" r="r" b="b"/>
            <a:pathLst>
              <a:path w="5619750" h="1866900">
                <a:moveTo>
                  <a:pt x="38100" y="0"/>
                </a:moveTo>
                <a:lnTo>
                  <a:pt x="5505458" y="0"/>
                </a:lnTo>
                <a:cubicBezTo>
                  <a:pt x="5568580" y="0"/>
                  <a:pt x="5619750" y="51170"/>
                  <a:pt x="5619750" y="114292"/>
                </a:cubicBezTo>
                <a:lnTo>
                  <a:pt x="5619750" y="1752608"/>
                </a:lnTo>
                <a:cubicBezTo>
                  <a:pt x="5619750" y="1815730"/>
                  <a:pt x="5568580" y="1866900"/>
                  <a:pt x="550545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91250" y="3736765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362700" y="38891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484144" y="402251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941344" y="3980199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packaging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45749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19714" y="4536865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Pitch Deck - only numbers and logic, no "water"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62700" y="48988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19714" y="4860715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Tough content and go-to-market strategy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62700" y="52226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519714" y="5184565"/>
            <a:ext cx="442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Preparing for Pitch Nights and meetings with venture capital funds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77825" y="5804940"/>
            <a:ext cx="11410950" cy="781050"/>
          </a:xfrm>
          <a:custGeom>
            <a:avLst/>
            <a:gdLst/>
            <a:ahLst/>
            <a:cxnLst/>
            <a:rect l="l" t="t" r="r" b="b"/>
            <a:pathLst>
              <a:path w="11410950" h="781050">
                <a:moveTo>
                  <a:pt x="114299" y="0"/>
                </a:moveTo>
                <a:lnTo>
                  <a:pt x="11296651" y="0"/>
                </a:lnTo>
                <a:cubicBezTo>
                  <a:pt x="11359777" y="0"/>
                  <a:pt x="11410950" y="51173"/>
                  <a:pt x="11410950" y="114299"/>
                </a:cubicBezTo>
                <a:lnTo>
                  <a:pt x="11410950" y="666751"/>
                </a:lnTo>
                <a:cubicBezTo>
                  <a:pt x="11410950" y="729877"/>
                  <a:pt x="11359777" y="781050"/>
                  <a:pt x="11296651" y="781050"/>
                </a:cubicBezTo>
                <a:lnTo>
                  <a:pt x="114299" y="781050"/>
                </a:lnTo>
                <a:cubicBezTo>
                  <a:pt x="51173" y="781050"/>
                  <a:pt x="0" y="729877"/>
                  <a:pt x="0" y="6667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A1A">
              <a:alpha val="67476"/>
            </a:srgbClr>
          </a:solidFill>
          <a:ln w="25400">
            <a:solidFill>
              <a:srgbClr val="C0FF03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533525" y="5883326"/>
            <a:ext cx="912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320490" y="6166890"/>
            <a:ext cx="955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startup receives the "Investment Ready" status and is included in our closed Deal Flow for transfer to funds</a:t>
            </a:r>
            <a:r>
              <a:rPr lang="en-US" sz="1500" b="1" dirty="0">
                <a:solidFill>
                  <a:srgbClr val="C0FF0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r>
              <a:rPr lang="en-US" sz="1500" b="1" dirty="0">
                <a:solidFill>
                  <a:srgbClr val="C0FF0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endParaRPr lang="en-US" sz="1600" dirty="0"/>
          </a:p>
        </p:txBody>
      </p:sp>
      <p:sp>
        <p:nvSpPr>
          <p:cNvPr id="60" name="Text 0">
            <a:extLst>
              <a:ext uri="{FF2B5EF4-FFF2-40B4-BE49-F238E27FC236}">
                <a16:creationId xmlns:a16="http://schemas.microsoft.com/office/drawing/2014/main" id="{86EC0A93-4AF8-11BF-174F-D57C1AB33921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DECISION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89" y="200025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YOUR ROI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2289" y="504825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is it beneficial for you to become our Headquarters (HQ)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2289" y="1143000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0" y="0"/>
                </a:moveTo>
                <a:lnTo>
                  <a:pt x="5638800" y="0"/>
                </a:lnTo>
                <a:lnTo>
                  <a:pt x="5638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2289" y="11430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2789" y="1352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2327" y="1485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54289" y="14478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2789" y="192405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Startups that go through our Founder OS and raise $50k-$100k rounds become your anchor private office tenants.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2314" y="27813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2314" y="27813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5189" y="29289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3789" y="28956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send them to you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3489" y="1143000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0" y="0"/>
                </a:moveTo>
                <a:lnTo>
                  <a:pt x="5638800" y="0"/>
                </a:lnTo>
                <a:lnTo>
                  <a:pt x="5638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83489" y="11430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73989" y="1352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07339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45489" y="144780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Aggressive PR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989" y="192405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Founder Reality formats, VC Talks podcasts with investors and interviews will be filmed at your location.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3514" y="27813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83514" y="27813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26389" y="29289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54989" y="28956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coverage to the entire IT audience of the country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2289" y="3600450"/>
            <a:ext cx="5638800" cy="2038350"/>
          </a:xfrm>
          <a:custGeom>
            <a:avLst/>
            <a:gdLst/>
            <a:ahLst/>
            <a:cxnLst/>
            <a:rect l="l" t="t" r="r" b="b"/>
            <a:pathLst>
              <a:path w="5638800" h="2038350">
                <a:moveTo>
                  <a:pt x="0" y="0"/>
                </a:moveTo>
                <a:lnTo>
                  <a:pt x="5638800" y="0"/>
                </a:lnTo>
                <a:lnTo>
                  <a:pt x="56388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92289" y="36004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82789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16139" y="3943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54289" y="390525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of Residents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2789" y="43815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residents receive free access to the Founder OS core (templates, AI bots, consultations).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2314" y="49911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92314" y="49911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5189" y="5138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63789" y="5105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powerful argument for the sales department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3489" y="3600450"/>
            <a:ext cx="5638800" cy="2038350"/>
          </a:xfrm>
          <a:custGeom>
            <a:avLst/>
            <a:gdLst/>
            <a:ahLst/>
            <a:cxnLst/>
            <a:rect l="l" t="t" r="r" b="b"/>
            <a:pathLst>
              <a:path w="5638800" h="2038350">
                <a:moveTo>
                  <a:pt x="0" y="0"/>
                </a:moveTo>
                <a:lnTo>
                  <a:pt x="5638800" y="0"/>
                </a:lnTo>
                <a:lnTo>
                  <a:pt x="56388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83489" y="36004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73989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95433" y="3943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45489" y="39052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to Capital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3989" y="43815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bring top investors, business angels and fund managers to your platform as part of our closed Industry Dinners.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3514" y="49911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383514" y="49911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526389" y="5138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54989" y="5105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contact with key market players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92289" y="57912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582789" y="6086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54277" y="59817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4277" y="624840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become the main assembly point of the venture market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59792" y="594360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in 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26467" y="62865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of value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985b73710700ac144b1ea6f65aa2d8d92169628d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0819" b="10819"/>
          <a:stretch/>
        </p:blipFill>
        <p:spPr>
          <a:xfrm>
            <a:off x="0" y="0"/>
            <a:ext cx="12192000" cy="68591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2000" cy="6859136"/>
          </a:xfrm>
          <a:custGeom>
            <a:avLst/>
            <a:gdLst/>
            <a:ahLst/>
            <a:cxnLst/>
            <a:rect l="l" t="t" r="r" b="b"/>
            <a:pathLst>
              <a:path w="12192000" h="6859136">
                <a:moveTo>
                  <a:pt x="0" y="0"/>
                </a:moveTo>
                <a:lnTo>
                  <a:pt x="12192000" y="0"/>
                </a:lnTo>
                <a:lnTo>
                  <a:pt x="12192000" y="6859136"/>
                </a:lnTo>
                <a:lnTo>
                  <a:pt x="0" y="68591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100000">
                <a:srgbClr val="1A1A1A">
                  <a:alpha val="9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3398" y="137621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kern="0" spc="114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PARTNERSHIP MODEL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3398" y="428339"/>
            <a:ext cx="11628733" cy="40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Win-Win Integration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3398" y="909841"/>
            <a:ext cx="1155605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Barter basis for 6-12 months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568" y="1345919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81568" y="1345919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81437" y="1527618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05148" y="1618467"/>
            <a:ext cx="28163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62873" y="1527618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access to the work area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62873" y="1854676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2 founders of the project - Akmal and Nuriddin. A full-fledged workplace with infrastructure.</a:t>
            </a: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568" y="2654151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81568" y="2654151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1437" y="2835850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8682" y="2926700"/>
            <a:ext cx="308888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62873" y="2835850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to meeting rooms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62873" y="3162909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filming podcasts and meetings with startups (for booking). Professional space for content.</a:t>
            </a:r>
            <a:r>
              <a:rPr lang="en-US" sz="1145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568" y="3962384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81568" y="3962384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1437" y="4144083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87901" y="4234932"/>
            <a:ext cx="31797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62873" y="4144083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to the event zone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62873" y="4471141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times a month to conduct closed meetups with founders and investors (Industry Nights) and Pitch Nights.</a:t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16364" y="1345919"/>
            <a:ext cx="4515219" cy="3125222"/>
          </a:xfrm>
          <a:custGeom>
            <a:avLst/>
            <a:gdLst/>
            <a:ahLst/>
            <a:cxnLst/>
            <a:rect l="l" t="t" r="r" b="b"/>
            <a:pathLst>
              <a:path w="4515219" h="3125222">
                <a:moveTo>
                  <a:pt x="0" y="0"/>
                </a:moveTo>
                <a:lnTo>
                  <a:pt x="4515219" y="0"/>
                </a:lnTo>
                <a:lnTo>
                  <a:pt x="4515219" y="3125222"/>
                </a:lnTo>
                <a:lnTo>
                  <a:pt x="0" y="3125222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355438" y="1563958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428071" y="128268"/>
                </a:moveTo>
                <a:lnTo>
                  <a:pt x="346307" y="210033"/>
                </a:lnTo>
                <a:cubicBezTo>
                  <a:pt x="338471" y="217868"/>
                  <a:pt x="326803" y="220168"/>
                  <a:pt x="316582" y="215909"/>
                </a:cubicBezTo>
                <a:cubicBezTo>
                  <a:pt x="306361" y="211651"/>
                  <a:pt x="299803" y="201771"/>
                  <a:pt x="299803" y="190784"/>
                </a:cubicBezTo>
                <a:lnTo>
                  <a:pt x="299803" y="136274"/>
                </a:lnTo>
                <a:lnTo>
                  <a:pt x="27255" y="136274"/>
                </a:lnTo>
                <a:cubicBezTo>
                  <a:pt x="12180" y="136274"/>
                  <a:pt x="0" y="124095"/>
                  <a:pt x="0" y="109019"/>
                </a:cubicBezTo>
                <a:cubicBezTo>
                  <a:pt x="0" y="93944"/>
                  <a:pt x="12180" y="81765"/>
                  <a:pt x="27255" y="81765"/>
                </a:cubicBezTo>
                <a:lnTo>
                  <a:pt x="299803" y="81765"/>
                </a:lnTo>
                <a:lnTo>
                  <a:pt x="299803" y="27255"/>
                </a:lnTo>
                <a:cubicBezTo>
                  <a:pt x="299803" y="16268"/>
                  <a:pt x="306447" y="6303"/>
                  <a:pt x="316667" y="2044"/>
                </a:cubicBezTo>
                <a:cubicBezTo>
                  <a:pt x="326888" y="-2214"/>
                  <a:pt x="338556" y="170"/>
                  <a:pt x="346392" y="7921"/>
                </a:cubicBezTo>
                <a:lnTo>
                  <a:pt x="428157" y="89685"/>
                </a:lnTo>
                <a:cubicBezTo>
                  <a:pt x="438803" y="100332"/>
                  <a:pt x="438803" y="117622"/>
                  <a:pt x="428157" y="128268"/>
                </a:cubicBezTo>
                <a:close/>
                <a:moveTo>
                  <a:pt x="89685" y="428071"/>
                </a:moveTo>
                <a:lnTo>
                  <a:pt x="7921" y="346307"/>
                </a:lnTo>
                <a:cubicBezTo>
                  <a:pt x="-2725" y="335660"/>
                  <a:pt x="-2725" y="318371"/>
                  <a:pt x="7921" y="307724"/>
                </a:cubicBezTo>
                <a:lnTo>
                  <a:pt x="89685" y="225960"/>
                </a:lnTo>
                <a:cubicBezTo>
                  <a:pt x="97521" y="218124"/>
                  <a:pt x="109190" y="215824"/>
                  <a:pt x="119410" y="220083"/>
                </a:cubicBezTo>
                <a:cubicBezTo>
                  <a:pt x="129631" y="224341"/>
                  <a:pt x="136274" y="234306"/>
                  <a:pt x="136274" y="245294"/>
                </a:cubicBezTo>
                <a:lnTo>
                  <a:pt x="136274" y="299803"/>
                </a:lnTo>
                <a:lnTo>
                  <a:pt x="408823" y="299803"/>
                </a:lnTo>
                <a:cubicBezTo>
                  <a:pt x="423898" y="299803"/>
                  <a:pt x="436077" y="311983"/>
                  <a:pt x="436077" y="327058"/>
                </a:cubicBezTo>
                <a:cubicBezTo>
                  <a:pt x="436077" y="342133"/>
                  <a:pt x="423898" y="354313"/>
                  <a:pt x="408823" y="354313"/>
                </a:cubicBezTo>
                <a:lnTo>
                  <a:pt x="136274" y="354313"/>
                </a:lnTo>
                <a:lnTo>
                  <a:pt x="136274" y="408823"/>
                </a:lnTo>
                <a:cubicBezTo>
                  <a:pt x="136274" y="419810"/>
                  <a:pt x="129631" y="429775"/>
                  <a:pt x="119410" y="434033"/>
                </a:cubicBezTo>
                <a:cubicBezTo>
                  <a:pt x="109190" y="438292"/>
                  <a:pt x="97521" y="435907"/>
                  <a:pt x="89685" y="4281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479893" y="2145394"/>
            <a:ext cx="418816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do we give in return?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67336" y="2763171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847833" y="2726831"/>
            <a:ext cx="16534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resource and PR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67336" y="3090229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847833" y="3053889"/>
            <a:ext cx="269507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of founders and investors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67336" y="3417287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847833" y="3380947"/>
            <a:ext cx="1726140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Resident integration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67336" y="3744345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847833" y="3708005"/>
            <a:ext cx="126280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generation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67336" y="4071403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847833" y="4035064"/>
            <a:ext cx="166254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tools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325449" y="4625585"/>
            <a:ext cx="4497049" cy="1399082"/>
          </a:xfrm>
          <a:custGeom>
            <a:avLst/>
            <a:gdLst/>
            <a:ahLst/>
            <a:cxnLst/>
            <a:rect l="l" t="t" r="r" b="b"/>
            <a:pathLst>
              <a:path w="4497049" h="1399082">
                <a:moveTo>
                  <a:pt x="0" y="0"/>
                </a:moveTo>
                <a:lnTo>
                  <a:pt x="4497049" y="0"/>
                </a:lnTo>
                <a:lnTo>
                  <a:pt x="4497049" y="1399082"/>
                </a:lnTo>
                <a:lnTo>
                  <a:pt x="0" y="1399082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 w="25400">
            <a:solidFill>
              <a:srgbClr val="BFFF0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479893" y="4816369"/>
            <a:ext cx="41881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terms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07213" y="5107087"/>
            <a:ext cx="4333520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479893" y="5615844"/>
            <a:ext cx="41881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barter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67940" y="6183654"/>
            <a:ext cx="11456119" cy="445162"/>
          </a:xfrm>
          <a:custGeom>
            <a:avLst/>
            <a:gdLst/>
            <a:ahLst/>
            <a:cxnLst/>
            <a:rect l="l" t="t" r="r" b="b"/>
            <a:pathLst>
              <a:path w="11456119" h="445162">
                <a:moveTo>
                  <a:pt x="0" y="0"/>
                </a:moveTo>
                <a:lnTo>
                  <a:pt x="11456119" y="0"/>
                </a:lnTo>
                <a:lnTo>
                  <a:pt x="11456119" y="445162"/>
                </a:lnTo>
                <a:lnTo>
                  <a:pt x="0" y="445162"/>
                </a:lnTo>
                <a:lnTo>
                  <a:pt x="0" y="0"/>
                </a:lnTo>
                <a:close/>
              </a:path>
            </a:pathLst>
          </a:custGeom>
          <a:solidFill>
            <a:srgbClr val="BFFF00">
              <a:alpha val="10196"/>
            </a:srgbClr>
          </a:solidFill>
          <a:ln w="12700">
            <a:solidFill>
              <a:srgbClr val="BFFF00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2605677" y="6315385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79493" y="56781"/>
                </a:moveTo>
                <a:cubicBezTo>
                  <a:pt x="79493" y="50513"/>
                  <a:pt x="84582" y="45425"/>
                  <a:pt x="90849" y="45425"/>
                </a:cubicBezTo>
                <a:cubicBezTo>
                  <a:pt x="97117" y="45425"/>
                  <a:pt x="102206" y="50513"/>
                  <a:pt x="102206" y="56781"/>
                </a:cubicBezTo>
                <a:cubicBezTo>
                  <a:pt x="102206" y="63049"/>
                  <a:pt x="97117" y="68137"/>
                  <a:pt x="90849" y="68137"/>
                </a:cubicBezTo>
                <a:cubicBezTo>
                  <a:pt x="84582" y="68137"/>
                  <a:pt x="79493" y="63049"/>
                  <a:pt x="79493" y="56781"/>
                </a:cubicBezTo>
                <a:close/>
                <a:moveTo>
                  <a:pt x="76654" y="79493"/>
                </a:moveTo>
                <a:lnTo>
                  <a:pt x="93689" y="79493"/>
                </a:lnTo>
                <a:cubicBezTo>
                  <a:pt x="98408" y="79493"/>
                  <a:pt x="102206" y="83291"/>
                  <a:pt x="102206" y="88010"/>
                </a:cubicBezTo>
                <a:lnTo>
                  <a:pt x="102206" y="119240"/>
                </a:lnTo>
                <a:lnTo>
                  <a:pt x="105045" y="119240"/>
                </a:lnTo>
                <a:cubicBezTo>
                  <a:pt x="109765" y="119240"/>
                  <a:pt x="113562" y="123037"/>
                  <a:pt x="113562" y="127757"/>
                </a:cubicBezTo>
                <a:cubicBezTo>
                  <a:pt x="113562" y="132477"/>
                  <a:pt x="109765" y="136274"/>
                  <a:pt x="105045" y="136274"/>
                </a:cubicBezTo>
                <a:lnTo>
                  <a:pt x="76654" y="136274"/>
                </a:lnTo>
                <a:cubicBezTo>
                  <a:pt x="71934" y="136274"/>
                  <a:pt x="68137" y="132477"/>
                  <a:pt x="68137" y="127757"/>
                </a:cubicBezTo>
                <a:cubicBezTo>
                  <a:pt x="68137" y="123037"/>
                  <a:pt x="71934" y="119240"/>
                  <a:pt x="76654" y="119240"/>
                </a:cubicBezTo>
                <a:lnTo>
                  <a:pt x="85171" y="119240"/>
                </a:lnTo>
                <a:lnTo>
                  <a:pt x="85171" y="96528"/>
                </a:lnTo>
                <a:lnTo>
                  <a:pt x="76654" y="96528"/>
                </a:lnTo>
                <a:cubicBezTo>
                  <a:pt x="71934" y="96528"/>
                  <a:pt x="68137" y="92730"/>
                  <a:pt x="68137" y="88010"/>
                </a:cubicBezTo>
                <a:cubicBezTo>
                  <a:pt x="68137" y="83291"/>
                  <a:pt x="71934" y="79493"/>
                  <a:pt x="76654" y="79493"/>
                </a:cubicBez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2919107" y="6297216"/>
            <a:ext cx="676828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makes you your official and only home base for the next 6-12 months</a:t>
            </a: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275912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kern="0" spc="112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559860"/>
            <a:ext cx="11641852" cy="39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for the next 60 days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934" y="1030148"/>
            <a:ext cx="1157086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May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681" y="1456070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2681" y="1456070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7895" y="1633537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402" y="1704524"/>
            <a:ext cx="239581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773" y="1988471"/>
            <a:ext cx="479162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7764" y="1633537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«Founder Reality»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7764" y="1952978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and implementation of AI tools in real startups. Filming debriefings at your location.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2681" y="2733834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2681" y="2733834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7895" y="2911301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8742" y="3088768"/>
            <a:ext cx="266201" cy="212961"/>
          </a:xfrm>
          <a:custGeom>
            <a:avLst/>
            <a:gdLst/>
            <a:ahLst/>
            <a:cxnLst/>
            <a:rect l="l" t="t" r="r" b="b"/>
            <a:pathLst>
              <a:path w="266201" h="212961">
                <a:moveTo>
                  <a:pt x="146410" y="0"/>
                </a:moveTo>
                <a:cubicBezTo>
                  <a:pt x="146410" y="-7362"/>
                  <a:pt x="140463" y="-13310"/>
                  <a:pt x="133100" y="-13310"/>
                </a:cubicBezTo>
                <a:cubicBezTo>
                  <a:pt x="125738" y="-13310"/>
                  <a:pt x="119790" y="-7362"/>
                  <a:pt x="119790" y="0"/>
                </a:cubicBezTo>
                <a:lnTo>
                  <a:pt x="119790" y="26620"/>
                </a:lnTo>
                <a:lnTo>
                  <a:pt x="79860" y="26620"/>
                </a:lnTo>
                <a:cubicBezTo>
                  <a:pt x="57816" y="26620"/>
                  <a:pt x="39930" y="44505"/>
                  <a:pt x="39930" y="66550"/>
                </a:cubicBezTo>
                <a:lnTo>
                  <a:pt x="39930" y="159721"/>
                </a:lnTo>
                <a:cubicBezTo>
                  <a:pt x="39930" y="181765"/>
                  <a:pt x="57816" y="199651"/>
                  <a:pt x="79860" y="199651"/>
                </a:cubicBezTo>
                <a:lnTo>
                  <a:pt x="186341" y="199651"/>
                </a:lnTo>
                <a:cubicBezTo>
                  <a:pt x="208385" y="199651"/>
                  <a:pt x="226271" y="181765"/>
                  <a:pt x="226271" y="159721"/>
                </a:cubicBezTo>
                <a:lnTo>
                  <a:pt x="226271" y="66550"/>
                </a:lnTo>
                <a:cubicBezTo>
                  <a:pt x="226271" y="44505"/>
                  <a:pt x="208385" y="26620"/>
                  <a:pt x="186341" y="26620"/>
                </a:cubicBezTo>
                <a:lnTo>
                  <a:pt x="146410" y="26620"/>
                </a:lnTo>
                <a:lnTo>
                  <a:pt x="146410" y="0"/>
                </a:lnTo>
                <a:close/>
                <a:moveTo>
                  <a:pt x="66550" y="153066"/>
                </a:moveTo>
                <a:cubicBezTo>
                  <a:pt x="66550" y="147534"/>
                  <a:pt x="71001" y="143083"/>
                  <a:pt x="76533" y="143083"/>
                </a:cubicBezTo>
                <a:lnTo>
                  <a:pt x="89843" y="143083"/>
                </a:lnTo>
                <a:cubicBezTo>
                  <a:pt x="95375" y="143083"/>
                  <a:pt x="99825" y="147534"/>
                  <a:pt x="99825" y="153066"/>
                </a:cubicBezTo>
                <a:cubicBezTo>
                  <a:pt x="99825" y="158597"/>
                  <a:pt x="95375" y="163048"/>
                  <a:pt x="89843" y="163048"/>
                </a:cubicBezTo>
                <a:lnTo>
                  <a:pt x="76533" y="163048"/>
                </a:lnTo>
                <a:cubicBezTo>
                  <a:pt x="71001" y="163048"/>
                  <a:pt x="66550" y="158597"/>
                  <a:pt x="66550" y="153066"/>
                </a:cubicBezTo>
                <a:close/>
                <a:moveTo>
                  <a:pt x="116463" y="153066"/>
                </a:moveTo>
                <a:cubicBezTo>
                  <a:pt x="116463" y="147534"/>
                  <a:pt x="120913" y="143083"/>
                  <a:pt x="126445" y="143083"/>
                </a:cubicBezTo>
                <a:lnTo>
                  <a:pt x="139755" y="143083"/>
                </a:lnTo>
                <a:cubicBezTo>
                  <a:pt x="145287" y="143083"/>
                  <a:pt x="149738" y="147534"/>
                  <a:pt x="149738" y="153066"/>
                </a:cubicBezTo>
                <a:cubicBezTo>
                  <a:pt x="149738" y="158597"/>
                  <a:pt x="145287" y="163048"/>
                  <a:pt x="139755" y="163048"/>
                </a:cubicBezTo>
                <a:lnTo>
                  <a:pt x="126445" y="163048"/>
                </a:lnTo>
                <a:cubicBezTo>
                  <a:pt x="120913" y="163048"/>
                  <a:pt x="116463" y="158597"/>
                  <a:pt x="116463" y="153066"/>
                </a:cubicBezTo>
                <a:close/>
                <a:moveTo>
                  <a:pt x="166376" y="153066"/>
                </a:moveTo>
                <a:cubicBezTo>
                  <a:pt x="166376" y="147534"/>
                  <a:pt x="170826" y="143083"/>
                  <a:pt x="176358" y="143083"/>
                </a:cubicBezTo>
                <a:lnTo>
                  <a:pt x="189668" y="143083"/>
                </a:lnTo>
                <a:cubicBezTo>
                  <a:pt x="195200" y="143083"/>
                  <a:pt x="199651" y="147534"/>
                  <a:pt x="199651" y="153066"/>
                </a:cubicBezTo>
                <a:cubicBezTo>
                  <a:pt x="199651" y="158597"/>
                  <a:pt x="195200" y="163048"/>
                  <a:pt x="189668" y="163048"/>
                </a:cubicBezTo>
                <a:lnTo>
                  <a:pt x="176358" y="163048"/>
                </a:lnTo>
                <a:cubicBezTo>
                  <a:pt x="170826" y="163048"/>
                  <a:pt x="166376" y="158597"/>
                  <a:pt x="166376" y="153066"/>
                </a:cubicBezTo>
                <a:close/>
                <a:moveTo>
                  <a:pt x="93170" y="73205"/>
                </a:moveTo>
                <a:cubicBezTo>
                  <a:pt x="104189" y="73205"/>
                  <a:pt x="113135" y="82151"/>
                  <a:pt x="113135" y="93170"/>
                </a:cubicBezTo>
                <a:cubicBezTo>
                  <a:pt x="113135" y="104189"/>
                  <a:pt x="104189" y="113135"/>
                  <a:pt x="93170" y="113135"/>
                </a:cubicBezTo>
                <a:cubicBezTo>
                  <a:pt x="82151" y="113135"/>
                  <a:pt x="73205" y="104189"/>
                  <a:pt x="73205" y="93170"/>
                </a:cubicBezTo>
                <a:cubicBezTo>
                  <a:pt x="73205" y="82151"/>
                  <a:pt x="82151" y="73205"/>
                  <a:pt x="93170" y="73205"/>
                </a:cubicBezTo>
                <a:close/>
                <a:moveTo>
                  <a:pt x="153066" y="93170"/>
                </a:moveTo>
                <a:cubicBezTo>
                  <a:pt x="153066" y="82151"/>
                  <a:pt x="162012" y="73205"/>
                  <a:pt x="173031" y="73205"/>
                </a:cubicBezTo>
                <a:cubicBezTo>
                  <a:pt x="184050" y="73205"/>
                  <a:pt x="192996" y="82151"/>
                  <a:pt x="192996" y="93170"/>
                </a:cubicBezTo>
                <a:cubicBezTo>
                  <a:pt x="192996" y="104189"/>
                  <a:pt x="184050" y="113135"/>
                  <a:pt x="173031" y="113135"/>
                </a:cubicBezTo>
                <a:cubicBezTo>
                  <a:pt x="162012" y="113135"/>
                  <a:pt x="153066" y="104189"/>
                  <a:pt x="153066" y="93170"/>
                </a:cubicBezTo>
                <a:close/>
                <a:moveTo>
                  <a:pt x="26620" y="93170"/>
                </a:moveTo>
                <a:cubicBezTo>
                  <a:pt x="26620" y="85808"/>
                  <a:pt x="20672" y="79860"/>
                  <a:pt x="13310" y="79860"/>
                </a:cubicBezTo>
                <a:cubicBezTo>
                  <a:pt x="5948" y="79860"/>
                  <a:pt x="0" y="85808"/>
                  <a:pt x="0" y="93170"/>
                </a:cubicBezTo>
                <a:lnTo>
                  <a:pt x="0" y="133100"/>
                </a:lnTo>
                <a:cubicBezTo>
                  <a:pt x="0" y="140463"/>
                  <a:pt x="5948" y="146410"/>
                  <a:pt x="13310" y="146410"/>
                </a:cubicBezTo>
                <a:cubicBezTo>
                  <a:pt x="20672" y="146410"/>
                  <a:pt x="26620" y="140463"/>
                  <a:pt x="26620" y="133100"/>
                </a:cubicBezTo>
                <a:lnTo>
                  <a:pt x="26620" y="93170"/>
                </a:lnTo>
                <a:close/>
                <a:moveTo>
                  <a:pt x="252891" y="79860"/>
                </a:moveTo>
                <a:cubicBezTo>
                  <a:pt x="245529" y="79860"/>
                  <a:pt x="239581" y="85808"/>
                  <a:pt x="239581" y="93170"/>
                </a:cubicBezTo>
                <a:lnTo>
                  <a:pt x="239581" y="133100"/>
                </a:lnTo>
                <a:cubicBezTo>
                  <a:pt x="239581" y="140463"/>
                  <a:pt x="245529" y="146410"/>
                  <a:pt x="252891" y="146410"/>
                </a:cubicBezTo>
                <a:cubicBezTo>
                  <a:pt x="260253" y="146410"/>
                  <a:pt x="266201" y="140463"/>
                  <a:pt x="266201" y="133100"/>
                </a:cubicBezTo>
                <a:lnTo>
                  <a:pt x="266201" y="93170"/>
                </a:lnTo>
                <a:cubicBezTo>
                  <a:pt x="266201" y="85808"/>
                  <a:pt x="260253" y="79860"/>
                  <a:pt x="252891" y="79860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77764" y="2911301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Founder OS Bot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7764" y="3230742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 of a Telegram bot with a knowledge base. Mention of you as a general partner in the interface.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2681" y="4011598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72681" y="4011598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7895" y="4189065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9105" y="4260052"/>
            <a:ext cx="230707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0997" y="4544000"/>
            <a:ext cx="514655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7764" y="4189065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«VC Talks»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7764" y="4508506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Interviews with leading venture funds of Uzbekistan: AloqaVentures, UzVC, PnP and others.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2681" y="5289362"/>
            <a:ext cx="7329397" cy="922830"/>
          </a:xfrm>
          <a:custGeom>
            <a:avLst/>
            <a:gdLst/>
            <a:ahLst/>
            <a:cxnLst/>
            <a:rect l="l" t="t" r="r" b="b"/>
            <a:pathLst>
              <a:path w="7329397" h="922830">
                <a:moveTo>
                  <a:pt x="0" y="0"/>
                </a:moveTo>
                <a:lnTo>
                  <a:pt x="7329397" y="0"/>
                </a:lnTo>
                <a:lnTo>
                  <a:pt x="7329397" y="922830"/>
                </a:lnTo>
                <a:lnTo>
                  <a:pt x="0" y="92283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2681" y="5289362"/>
            <a:ext cx="35493" cy="922830"/>
          </a:xfrm>
          <a:custGeom>
            <a:avLst/>
            <a:gdLst/>
            <a:ahLst/>
            <a:cxnLst/>
            <a:rect l="l" t="t" r="r" b="b"/>
            <a:pathLst>
              <a:path w="35493" h="922830">
                <a:moveTo>
                  <a:pt x="0" y="0"/>
                </a:moveTo>
                <a:lnTo>
                  <a:pt x="35493" y="0"/>
                </a:lnTo>
                <a:lnTo>
                  <a:pt x="35493" y="922830"/>
                </a:lnTo>
                <a:lnTo>
                  <a:pt x="0" y="92283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67895" y="5466830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9209" y="5537816"/>
            <a:ext cx="195214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486" y="5821764"/>
            <a:ext cx="310568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dinner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77764" y="5466830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Dinner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7764" y="5786271"/>
            <a:ext cx="6317834" cy="2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dinner with local investors and business angels at your event site.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81695" y="1456070"/>
            <a:ext cx="3957520" cy="3549345"/>
          </a:xfrm>
          <a:custGeom>
            <a:avLst/>
            <a:gdLst/>
            <a:ahLst/>
            <a:cxnLst/>
            <a:rect l="l" t="t" r="r" b="b"/>
            <a:pathLst>
              <a:path w="3957520" h="3549345">
                <a:moveTo>
                  <a:pt x="0" y="0"/>
                </a:moveTo>
                <a:lnTo>
                  <a:pt x="3957520" y="0"/>
                </a:lnTo>
                <a:lnTo>
                  <a:pt x="3957520" y="3549345"/>
                </a:lnTo>
                <a:lnTo>
                  <a:pt x="0" y="354934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73975" y="1669030"/>
            <a:ext cx="372681" cy="425921"/>
          </a:xfrm>
          <a:custGeom>
            <a:avLst/>
            <a:gdLst/>
            <a:ahLst/>
            <a:cxnLst/>
            <a:rect l="l" t="t" r="r" b="b"/>
            <a:pathLst>
              <a:path w="372681" h="425921">
                <a:moveTo>
                  <a:pt x="106480" y="0"/>
                </a:moveTo>
                <a:cubicBezTo>
                  <a:pt x="121205" y="0"/>
                  <a:pt x="133100" y="11896"/>
                  <a:pt x="133100" y="26620"/>
                </a:cubicBezTo>
                <a:lnTo>
                  <a:pt x="133100" y="53240"/>
                </a:lnTo>
                <a:lnTo>
                  <a:pt x="239581" y="53240"/>
                </a:lnTo>
                <a:lnTo>
                  <a:pt x="239581" y="26620"/>
                </a:lnTo>
                <a:cubicBezTo>
                  <a:pt x="239581" y="11896"/>
                  <a:pt x="251477" y="0"/>
                  <a:pt x="266201" y="0"/>
                </a:cubicBezTo>
                <a:cubicBezTo>
                  <a:pt x="280925" y="0"/>
                  <a:pt x="292821" y="11896"/>
                  <a:pt x="292821" y="26620"/>
                </a:cubicBezTo>
                <a:lnTo>
                  <a:pt x="292821" y="53240"/>
                </a:lnTo>
                <a:lnTo>
                  <a:pt x="319441" y="53240"/>
                </a:lnTo>
                <a:cubicBezTo>
                  <a:pt x="348806" y="53240"/>
                  <a:pt x="372681" y="77115"/>
                  <a:pt x="372681" y="106480"/>
                </a:cubicBezTo>
                <a:lnTo>
                  <a:pt x="372681" y="346061"/>
                </a:lnTo>
                <a:cubicBezTo>
                  <a:pt x="372681" y="375426"/>
                  <a:pt x="348806" y="399301"/>
                  <a:pt x="319441" y="399301"/>
                </a:cubicBezTo>
                <a:lnTo>
                  <a:pt x="53240" y="399301"/>
                </a:lnTo>
                <a:cubicBezTo>
                  <a:pt x="23875" y="399301"/>
                  <a:pt x="0" y="375426"/>
                  <a:pt x="0" y="346061"/>
                </a:cubicBezTo>
                <a:lnTo>
                  <a:pt x="0" y="106480"/>
                </a:lnTo>
                <a:cubicBezTo>
                  <a:pt x="0" y="77115"/>
                  <a:pt x="23875" y="53240"/>
                  <a:pt x="53240" y="53240"/>
                </a:cubicBezTo>
                <a:lnTo>
                  <a:pt x="79860" y="53240"/>
                </a:lnTo>
                <a:lnTo>
                  <a:pt x="79860" y="26620"/>
                </a:lnTo>
                <a:cubicBezTo>
                  <a:pt x="79860" y="11896"/>
                  <a:pt x="91756" y="0"/>
                  <a:pt x="106480" y="0"/>
                </a:cubicBezTo>
                <a:close/>
                <a:moveTo>
                  <a:pt x="53240" y="199651"/>
                </a:moveTo>
                <a:lnTo>
                  <a:pt x="53240" y="226271"/>
                </a:lnTo>
                <a:cubicBezTo>
                  <a:pt x="53240" y="233591"/>
                  <a:pt x="59230" y="239581"/>
                  <a:pt x="66550" y="239581"/>
                </a:cubicBezTo>
                <a:lnTo>
                  <a:pt x="93170" y="239581"/>
                </a:lnTo>
                <a:cubicBezTo>
                  <a:pt x="100491" y="239581"/>
                  <a:pt x="106480" y="233591"/>
                  <a:pt x="106480" y="226271"/>
                </a:cubicBezTo>
                <a:lnTo>
                  <a:pt x="106480" y="199651"/>
                </a:lnTo>
                <a:cubicBezTo>
                  <a:pt x="106480" y="192330"/>
                  <a:pt x="100491" y="186341"/>
                  <a:pt x="93170" y="186341"/>
                </a:cubicBezTo>
                <a:lnTo>
                  <a:pt x="66550" y="186341"/>
                </a:lnTo>
                <a:cubicBezTo>
                  <a:pt x="59230" y="186341"/>
                  <a:pt x="53240" y="192330"/>
                  <a:pt x="53240" y="199651"/>
                </a:cubicBezTo>
                <a:close/>
                <a:moveTo>
                  <a:pt x="159721" y="199651"/>
                </a:moveTo>
                <a:lnTo>
                  <a:pt x="159721" y="226271"/>
                </a:lnTo>
                <a:cubicBezTo>
                  <a:pt x="159721" y="233591"/>
                  <a:pt x="165710" y="239581"/>
                  <a:pt x="173031" y="239581"/>
                </a:cubicBezTo>
                <a:lnTo>
                  <a:pt x="199651" y="239581"/>
                </a:lnTo>
                <a:cubicBezTo>
                  <a:pt x="206971" y="239581"/>
                  <a:pt x="212961" y="233591"/>
                  <a:pt x="212961" y="226271"/>
                </a:cubicBezTo>
                <a:lnTo>
                  <a:pt x="212961" y="199651"/>
                </a:lnTo>
                <a:cubicBezTo>
                  <a:pt x="212961" y="192330"/>
                  <a:pt x="206971" y="186341"/>
                  <a:pt x="199651" y="186341"/>
                </a:cubicBezTo>
                <a:lnTo>
                  <a:pt x="173031" y="186341"/>
                </a:lnTo>
                <a:cubicBezTo>
                  <a:pt x="165710" y="186341"/>
                  <a:pt x="159721" y="192330"/>
                  <a:pt x="159721" y="199651"/>
                </a:cubicBezTo>
                <a:close/>
                <a:moveTo>
                  <a:pt x="279511" y="186341"/>
                </a:moveTo>
                <a:cubicBezTo>
                  <a:pt x="272190" y="186341"/>
                  <a:pt x="266201" y="192330"/>
                  <a:pt x="266201" y="199651"/>
                </a:cubicBezTo>
                <a:lnTo>
                  <a:pt x="266201" y="226271"/>
                </a:lnTo>
                <a:cubicBezTo>
                  <a:pt x="266201" y="233591"/>
                  <a:pt x="272190" y="239581"/>
                  <a:pt x="279511" y="239581"/>
                </a:cubicBezTo>
                <a:lnTo>
                  <a:pt x="306131" y="239581"/>
                </a:lnTo>
                <a:cubicBezTo>
                  <a:pt x="313452" y="239581"/>
                  <a:pt x="319441" y="233591"/>
                  <a:pt x="319441" y="226271"/>
                </a:cubicBezTo>
                <a:lnTo>
                  <a:pt x="319441" y="199651"/>
                </a:lnTo>
                <a:cubicBezTo>
                  <a:pt x="319441" y="192330"/>
                  <a:pt x="313452" y="186341"/>
                  <a:pt x="306131" y="186341"/>
                </a:cubicBezTo>
                <a:lnTo>
                  <a:pt x="279511" y="186341"/>
                </a:lnTo>
                <a:close/>
                <a:moveTo>
                  <a:pt x="53240" y="306131"/>
                </a:moveTo>
                <a:lnTo>
                  <a:pt x="53240" y="332751"/>
                </a:lnTo>
                <a:cubicBezTo>
                  <a:pt x="53240" y="340072"/>
                  <a:pt x="59230" y="346061"/>
                  <a:pt x="66550" y="346061"/>
                </a:cubicBezTo>
                <a:lnTo>
                  <a:pt x="93170" y="346061"/>
                </a:lnTo>
                <a:cubicBezTo>
                  <a:pt x="100491" y="346061"/>
                  <a:pt x="106480" y="340072"/>
                  <a:pt x="106480" y="332751"/>
                </a:cubicBezTo>
                <a:lnTo>
                  <a:pt x="106480" y="306131"/>
                </a:lnTo>
                <a:cubicBezTo>
                  <a:pt x="106480" y="298810"/>
                  <a:pt x="100491" y="292821"/>
                  <a:pt x="93170" y="292821"/>
                </a:cubicBezTo>
                <a:lnTo>
                  <a:pt x="66550" y="292821"/>
                </a:lnTo>
                <a:cubicBezTo>
                  <a:pt x="59230" y="292821"/>
                  <a:pt x="53240" y="298810"/>
                  <a:pt x="53240" y="306131"/>
                </a:cubicBezTo>
                <a:close/>
                <a:moveTo>
                  <a:pt x="173031" y="292821"/>
                </a:moveTo>
                <a:cubicBezTo>
                  <a:pt x="165710" y="292821"/>
                  <a:pt x="159721" y="298810"/>
                  <a:pt x="159721" y="306131"/>
                </a:cubicBezTo>
                <a:lnTo>
                  <a:pt x="159721" y="332751"/>
                </a:lnTo>
                <a:cubicBezTo>
                  <a:pt x="159721" y="340072"/>
                  <a:pt x="165710" y="346061"/>
                  <a:pt x="173031" y="346061"/>
                </a:cubicBezTo>
                <a:lnTo>
                  <a:pt x="199651" y="346061"/>
                </a:lnTo>
                <a:cubicBezTo>
                  <a:pt x="206971" y="346061"/>
                  <a:pt x="212961" y="340072"/>
                  <a:pt x="212961" y="332751"/>
                </a:cubicBezTo>
                <a:lnTo>
                  <a:pt x="212961" y="306131"/>
                </a:lnTo>
                <a:cubicBezTo>
                  <a:pt x="212961" y="298810"/>
                  <a:pt x="206971" y="292821"/>
                  <a:pt x="199651" y="292821"/>
                </a:cubicBezTo>
                <a:lnTo>
                  <a:pt x="173031" y="292821"/>
                </a:lnTo>
                <a:close/>
                <a:moveTo>
                  <a:pt x="266201" y="306131"/>
                </a:moveTo>
                <a:lnTo>
                  <a:pt x="266201" y="332751"/>
                </a:lnTo>
                <a:cubicBezTo>
                  <a:pt x="266201" y="340072"/>
                  <a:pt x="272190" y="346061"/>
                  <a:pt x="279511" y="346061"/>
                </a:cubicBezTo>
                <a:lnTo>
                  <a:pt x="306131" y="346061"/>
                </a:lnTo>
                <a:cubicBezTo>
                  <a:pt x="313452" y="346061"/>
                  <a:pt x="319441" y="340072"/>
                  <a:pt x="319441" y="332751"/>
                </a:cubicBezTo>
                <a:lnTo>
                  <a:pt x="319441" y="306131"/>
                </a:lnTo>
                <a:cubicBezTo>
                  <a:pt x="319441" y="298810"/>
                  <a:pt x="313452" y="292821"/>
                  <a:pt x="306131" y="292821"/>
                </a:cubicBezTo>
                <a:lnTo>
                  <a:pt x="279511" y="292821"/>
                </a:lnTo>
                <a:cubicBezTo>
                  <a:pt x="272190" y="292821"/>
                  <a:pt x="266201" y="298810"/>
                  <a:pt x="266201" y="306131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041415" y="2236926"/>
            <a:ext cx="3638079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94656" y="2946795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307616" y="2804821"/>
            <a:ext cx="134875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7616" y="3017781"/>
            <a:ext cx="133987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Founder OS Bot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94656" y="3479196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07616" y="3337223"/>
            <a:ext cx="153509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April-May 2026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07616" y="3550183"/>
            <a:ext cx="152621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Founder Reality trips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94656" y="4011598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307616" y="3869624"/>
            <a:ext cx="119790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April-May 2026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7616" y="4082585"/>
            <a:ext cx="118903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VC Talks podcasts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94656" y="4544000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307616" y="4402026"/>
            <a:ext cx="1109170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 2026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07616" y="4614987"/>
            <a:ext cx="110029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1-й Industry Night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890568" y="5156262"/>
            <a:ext cx="3939773" cy="1384245"/>
          </a:xfrm>
          <a:custGeom>
            <a:avLst/>
            <a:gdLst/>
            <a:ahLst/>
            <a:cxnLst/>
            <a:rect l="l" t="t" r="r" b="b"/>
            <a:pathLst>
              <a:path w="3939773" h="1384245">
                <a:moveTo>
                  <a:pt x="0" y="0"/>
                </a:moveTo>
                <a:lnTo>
                  <a:pt x="3939773" y="0"/>
                </a:lnTo>
                <a:lnTo>
                  <a:pt x="3939773" y="1384245"/>
                </a:lnTo>
                <a:lnTo>
                  <a:pt x="0" y="138424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25400">
            <a:solidFill>
              <a:srgbClr val="BFFF0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054725" y="5342602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106480" y="0"/>
                </a:moveTo>
                <a:cubicBezTo>
                  <a:pt x="112595" y="0"/>
                  <a:pt x="118210" y="3369"/>
                  <a:pt x="121121" y="8735"/>
                </a:cubicBezTo>
                <a:lnTo>
                  <a:pt x="210964" y="175110"/>
                </a:lnTo>
                <a:cubicBezTo>
                  <a:pt x="213751" y="180268"/>
                  <a:pt x="213626" y="186507"/>
                  <a:pt x="210631" y="191540"/>
                </a:cubicBezTo>
                <a:cubicBezTo>
                  <a:pt x="207637" y="196573"/>
                  <a:pt x="202188" y="199651"/>
                  <a:pt x="196323" y="199651"/>
                </a:cubicBezTo>
                <a:lnTo>
                  <a:pt x="16638" y="199651"/>
                </a:lnTo>
                <a:cubicBezTo>
                  <a:pt x="10773" y="199651"/>
                  <a:pt x="5366" y="196573"/>
                  <a:pt x="2329" y="191540"/>
                </a:cubicBezTo>
                <a:cubicBezTo>
                  <a:pt x="-707" y="186507"/>
                  <a:pt x="-790" y="180268"/>
                  <a:pt x="1997" y="175110"/>
                </a:cubicBezTo>
                <a:lnTo>
                  <a:pt x="91839" y="8735"/>
                </a:lnTo>
                <a:cubicBezTo>
                  <a:pt x="94751" y="3369"/>
                  <a:pt x="100366" y="0"/>
                  <a:pt x="106480" y="0"/>
                </a:cubicBezTo>
                <a:close/>
                <a:moveTo>
                  <a:pt x="106480" y="69878"/>
                </a:moveTo>
                <a:cubicBezTo>
                  <a:pt x="100948" y="69878"/>
                  <a:pt x="96498" y="74328"/>
                  <a:pt x="96498" y="79860"/>
                </a:cubicBezTo>
                <a:lnTo>
                  <a:pt x="96498" y="126445"/>
                </a:lnTo>
                <a:cubicBezTo>
                  <a:pt x="96498" y="131977"/>
                  <a:pt x="100948" y="136428"/>
                  <a:pt x="106480" y="136428"/>
                </a:cubicBezTo>
                <a:cubicBezTo>
                  <a:pt x="112012" y="136428"/>
                  <a:pt x="116463" y="131977"/>
                  <a:pt x="116463" y="126445"/>
                </a:cubicBezTo>
                <a:lnTo>
                  <a:pt x="116463" y="79860"/>
                </a:lnTo>
                <a:cubicBezTo>
                  <a:pt x="116463" y="74328"/>
                  <a:pt x="112012" y="69878"/>
                  <a:pt x="106480" y="69878"/>
                </a:cubicBezTo>
                <a:close/>
                <a:moveTo>
                  <a:pt x="117586" y="159721"/>
                </a:moveTo>
                <a:cubicBezTo>
                  <a:pt x="117839" y="155598"/>
                  <a:pt x="115783" y="151676"/>
                  <a:pt x="112249" y="149539"/>
                </a:cubicBezTo>
                <a:cubicBezTo>
                  <a:pt x="108715" y="147401"/>
                  <a:pt x="104287" y="147401"/>
                  <a:pt x="100753" y="149539"/>
                </a:cubicBezTo>
                <a:cubicBezTo>
                  <a:pt x="97220" y="151676"/>
                  <a:pt x="95164" y="155598"/>
                  <a:pt x="95416" y="159721"/>
                </a:cubicBezTo>
                <a:cubicBezTo>
                  <a:pt x="95164" y="163843"/>
                  <a:pt x="97220" y="167765"/>
                  <a:pt x="100753" y="169902"/>
                </a:cubicBezTo>
                <a:cubicBezTo>
                  <a:pt x="104287" y="172040"/>
                  <a:pt x="108715" y="172040"/>
                  <a:pt x="112249" y="169902"/>
                </a:cubicBezTo>
                <a:cubicBezTo>
                  <a:pt x="115783" y="167765"/>
                  <a:pt x="117839" y="163843"/>
                  <a:pt x="117586" y="159721"/>
                </a:cubicBez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349072" y="5342602"/>
            <a:ext cx="337187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49072" y="5662044"/>
            <a:ext cx="3363004" cy="69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looking for only one anchor partner. The location that enters the project now will take all the traffic from the venture market.</a:t>
            </a: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officebanao.com/6124e8557008f756045f39f353914274d3412ab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1" b="777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8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395912" y="377300"/>
            <a:ext cx="1400175" cy="381000"/>
          </a:xfrm>
          <a:custGeom>
            <a:avLst/>
            <a:gdLst/>
            <a:ahLst/>
            <a:cxnLst/>
            <a:rect l="l" t="t" r="r" b="b"/>
            <a:pathLst>
              <a:path w="1400175" h="381000">
                <a:moveTo>
                  <a:pt x="0" y="0"/>
                </a:moveTo>
                <a:lnTo>
                  <a:pt x="1400175" y="0"/>
                </a:lnTo>
                <a:lnTo>
                  <a:pt x="14001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357812" y="377300"/>
            <a:ext cx="1476375" cy="3810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94259" y="1063100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is more important than hype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759" y="1543317"/>
            <a:ext cx="7981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make your coworking space the place where the main deals are made on Uznet</a:t>
            </a:r>
            <a:r>
              <a:rPr lang="en-US" sz="18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47850" y="2591067"/>
            <a:ext cx="4095750" cy="2114550"/>
          </a:xfrm>
          <a:custGeom>
            <a:avLst/>
            <a:gdLst/>
            <a:ahLst/>
            <a:cxnLst/>
            <a:rect l="l" t="t" r="r" b="b"/>
            <a:pathLst>
              <a:path w="4095750" h="2114550">
                <a:moveTo>
                  <a:pt x="0" y="0"/>
                </a:moveTo>
                <a:lnTo>
                  <a:pt x="4095750" y="0"/>
                </a:lnTo>
                <a:lnTo>
                  <a:pt x="409575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80000"/>
            </a:srgbClr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847850" y="2591067"/>
            <a:ext cx="38100" cy="2114550"/>
          </a:xfrm>
          <a:custGeom>
            <a:avLst/>
            <a:gdLst/>
            <a:ahLst/>
            <a:cxnLst/>
            <a:rect l="l" t="t" r="r" b="b"/>
            <a:pathLst>
              <a:path w="38100" h="2114550">
                <a:moveTo>
                  <a:pt x="0" y="0"/>
                </a:moveTo>
                <a:lnTo>
                  <a:pt x="38100" y="0"/>
                </a:lnTo>
                <a:lnTo>
                  <a:pt x="3810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171700" y="28958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376488" y="30863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933700" y="2933967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Akmal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33700" y="3238767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OS Architect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71700" y="3657867"/>
            <a:ext cx="29295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 and AI. Responsible for technical infrastructure, business processes and AI tools.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7450" y="2591067"/>
            <a:ext cx="4095750" cy="2114550"/>
          </a:xfrm>
          <a:custGeom>
            <a:avLst/>
            <a:gdLst/>
            <a:ahLst/>
            <a:cxnLst/>
            <a:rect l="l" t="t" r="r" b="b"/>
            <a:pathLst>
              <a:path w="4095750" h="2114550">
                <a:moveTo>
                  <a:pt x="0" y="0"/>
                </a:moveTo>
                <a:lnTo>
                  <a:pt x="4095750" y="0"/>
                </a:lnTo>
                <a:lnTo>
                  <a:pt x="409575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80000"/>
            </a:srgbClr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67450" y="2591067"/>
            <a:ext cx="38100" cy="2114550"/>
          </a:xfrm>
          <a:custGeom>
            <a:avLst/>
            <a:gdLst/>
            <a:ahLst/>
            <a:cxnLst/>
            <a:rect l="l" t="t" r="r" b="b"/>
            <a:pathLst>
              <a:path w="38100" h="2114550">
                <a:moveTo>
                  <a:pt x="0" y="0"/>
                </a:moveTo>
                <a:lnTo>
                  <a:pt x="38100" y="0"/>
                </a:lnTo>
                <a:lnTo>
                  <a:pt x="3810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591300" y="28958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796088" y="30863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353300" y="2933967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Nuriddin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53300" y="3238767"/>
            <a:ext cx="1845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Ecosystem Lead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91300" y="3657867"/>
            <a:ext cx="30523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Operations, community and media. Responsible for partnerships and content strategy.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35375" y="5140148"/>
            <a:ext cx="4524375" cy="914400"/>
          </a:xfrm>
          <a:custGeom>
            <a:avLst/>
            <a:gdLst/>
            <a:ahLst/>
            <a:cxnLst/>
            <a:rect l="l" t="t" r="r" b="b"/>
            <a:pathLst>
              <a:path w="4524375" h="914400">
                <a:moveTo>
                  <a:pt x="0" y="0"/>
                </a:moveTo>
                <a:lnTo>
                  <a:pt x="4524375" y="0"/>
                </a:lnTo>
                <a:lnTo>
                  <a:pt x="45243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395788" y="5165548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35375" y="5620808"/>
            <a:ext cx="452437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+998937687300 / +998881250666 </a:t>
            </a:r>
          </a:p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instagram: untitled.uz</a:t>
            </a: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47084" y="657701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370984" y="6472238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2.0 © 2026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35242" y="657701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909</Words>
  <Application>Microsoft Macintosh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Liter</vt:lpstr>
      <vt:lpstr>Quattrocento Sans</vt:lpstr>
      <vt:lpstr>微软雅黑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2.0 — Партнерский Питч Дек</dc:title>
  <dc:subject>UNTITLED 2.0 — Партнерский Питч Дек</dc:subject>
  <dc:creator>Kimi</dc:creator>
  <cp:lastModifiedBy>Akmal Rustamov</cp:lastModifiedBy>
  <cp:revision>4</cp:revision>
  <dcterms:created xsi:type="dcterms:W3CDTF">2026-03-25T18:43:14Z</dcterms:created>
  <dcterms:modified xsi:type="dcterms:W3CDTF">2026-03-25T19:19:19Z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 2.0 — Партнерский Питч Дек","ContentProducer":"001191110108MACG2KBH8F10000","ProduceID":"19d2637e-1fe2-83f9-8000-00009086d793","ReservedCode1":"","ContentPropagator":"001191110108MACG2KBH8F20000","PropagateID":"19d2637e-1fe2-83f9-8000-00009086d793","ReservedCode2":""}</vt:lpwstr>
  </property>
</Properties>
</file>