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</p:sldIdLst>
  <p:sldSz cx="12192000" cy="6858000"/>
  <p:notesSz cx="6858000" cy="12192000"/>
  <p:embeddedFontLst>
    <p:embeddedFont>
      <p:font typeface="微软雅黑" panose="020B0503020204020204" pitchFamily="34" charset="-122"/>
      <p:regular r:id="rId12"/>
      <p:bold r:id="rId13"/>
    </p:embeddedFont>
    <p:embeddedFont>
      <p:font typeface="Liter" panose="02000503030000020004" pitchFamily="2" charset="0"/>
      <p:regular r:id="rId14"/>
    </p:embeddedFont>
    <p:embeddedFont>
      <p:font typeface="Quattrocento Sans" panose="020B0502050000020003" pitchFamily="34" charset="0"/>
      <p:regular r:id="rId15"/>
      <p:bold r:id="rId16"/>
      <p:italic r:id="rId17"/>
      <p:boldItalic r:id="rId18"/>
    </p:embeddedFont>
  </p:embeddedFontLst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C0FF03"/>
    <a:srgbClr val="A4DA1A"/>
    <a:srgbClr val="97A764"/>
    <a:srgbClr val="C6D77E"/>
    <a:srgbClr val="1A1A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4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192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0181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oppng.com/448dec27b7c2d7e4afcf8c6cded10c7eb63d07da.jpg"/>
          <p:cNvPicPr>
            <a:picLocks noChangeAspect="1"/>
          </p:cNvPicPr>
          <p:nvPr/>
        </p:nvPicPr>
        <p:blipFill>
          <a:blip r:embed="rId3">
            <a:alphaModFix amt="40000"/>
          </a:blip>
          <a:srcRect t="12529" b="1252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A1A">
                  <a:alpha val="95000"/>
                </a:srgbClr>
              </a:gs>
              <a:gs pos="50000">
                <a:srgbClr val="1A1A1A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487835"/>
            <a:ext cx="3028950" cy="381000"/>
          </a:xfrm>
          <a:custGeom>
            <a:avLst/>
            <a:gdLst/>
            <a:ahLst/>
            <a:cxnLst/>
            <a:rect l="l" t="t" r="r" b="b"/>
            <a:pathLst>
              <a:path w="3028950" h="381000">
                <a:moveTo>
                  <a:pt x="0" y="0"/>
                </a:moveTo>
                <a:lnTo>
                  <a:pt x="3028950" y="0"/>
                </a:lnTo>
                <a:lnTo>
                  <a:pt x="30289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5" name="Text 2"/>
          <p:cNvSpPr/>
          <p:nvPr/>
        </p:nvSpPr>
        <p:spPr>
          <a:xfrm>
            <a:off x="381000" y="1487835"/>
            <a:ext cx="3105150" cy="381000"/>
          </a:xfrm>
          <a:prstGeom prst="rect">
            <a:avLst/>
          </a:prstGeom>
          <a:noFill/>
          <a:ln/>
        </p:spPr>
        <p:txBody>
          <a:bodyPr wrap="square" lIns="190500" tIns="76200" rIns="190500" bIns="7620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ПАРТНЕРСКОЕ ПРЕДЛОЖЕНИЕ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979333" y="2290120"/>
            <a:ext cx="126717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2.0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355628"/>
            <a:ext cx="762000" cy="28575"/>
          </a:xfrm>
          <a:custGeom>
            <a:avLst/>
            <a:gdLst/>
            <a:ahLst/>
            <a:cxnLst/>
            <a:rect l="l" t="t" r="r" b="b"/>
            <a:pathLst>
              <a:path w="762000" h="28575">
                <a:moveTo>
                  <a:pt x="0" y="0"/>
                </a:moveTo>
                <a:lnTo>
                  <a:pt x="762000" y="0"/>
                </a:lnTo>
                <a:lnTo>
                  <a:pt x="7620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8" name="Text 5"/>
          <p:cNvSpPr/>
          <p:nvPr/>
        </p:nvSpPr>
        <p:spPr>
          <a:xfrm>
            <a:off x="1371600" y="3198465"/>
            <a:ext cx="4114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Стратегическое партнерство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3922365"/>
            <a:ext cx="596771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Создаем главную точку сборки cтартапов, инвесторов и венчурного рынка Узбекистана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1000" y="54054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381000" y="5638800"/>
            <a:ext cx="3019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Спикеры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81000" y="5981700"/>
            <a:ext cx="1514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Акмал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81000" y="6248400"/>
            <a:ext cx="149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Founder OS Architect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253853" y="5981700"/>
            <a:ext cx="116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Нуриддин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253853" y="6248400"/>
            <a:ext cx="19464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Untitled Ecosystem Lead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613231" y="5905500"/>
            <a:ext cx="120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575131" y="6172200"/>
            <a:ext cx="1238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800" b="1" dirty="0">
                <a:solidFill>
                  <a:srgbClr val="BF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ПИТЧ ДЕК</a:t>
            </a:r>
            <a:endParaRPr lang="en-US" sz="16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5B6F212-B9AE-766C-9386-D12B0F2517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2195113"/>
            <a:ext cx="3368467" cy="67816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СОДЕРЖАНИЕ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7239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Что мы обсудим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485900"/>
            <a:ext cx="5581650" cy="1676400"/>
          </a:xfrm>
          <a:custGeom>
            <a:avLst/>
            <a:gdLst/>
            <a:ahLst/>
            <a:cxnLst/>
            <a:rect l="l" t="t" r="r" b="b"/>
            <a:pathLst>
              <a:path w="5581650" h="1676400">
                <a:moveTo>
                  <a:pt x="0" y="0"/>
                </a:moveTo>
                <a:lnTo>
                  <a:pt x="5581650" y="0"/>
                </a:lnTo>
                <a:lnTo>
                  <a:pt x="5581650" y="1676400"/>
                </a:lnTo>
                <a:lnTo>
                  <a:pt x="0" y="1676400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485900"/>
            <a:ext cx="38100" cy="1676400"/>
          </a:xfrm>
          <a:custGeom>
            <a:avLst/>
            <a:gdLst/>
            <a:ahLst/>
            <a:cxnLst/>
            <a:rect l="l" t="t" r="r" b="b"/>
            <a:pathLst>
              <a:path w="38100" h="1676400">
                <a:moveTo>
                  <a:pt x="0" y="0"/>
                </a:moveTo>
                <a:lnTo>
                  <a:pt x="38100" y="0"/>
                </a:lnTo>
                <a:lnTo>
                  <a:pt x="38100" y="1676400"/>
                </a:lnTo>
                <a:lnTo>
                  <a:pt x="0" y="16764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6" name="Shape 4"/>
          <p:cNvSpPr/>
          <p:nvPr/>
        </p:nvSpPr>
        <p:spPr>
          <a:xfrm>
            <a:off x="723900" y="1866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7" name="Text 5"/>
          <p:cNvSpPr/>
          <p:nvPr/>
        </p:nvSpPr>
        <p:spPr>
          <a:xfrm>
            <a:off x="871910" y="1981200"/>
            <a:ext cx="352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47800" y="1866900"/>
            <a:ext cx="434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Проблема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47800" y="2286000"/>
            <a:ext cx="4305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Почему рынку нужны изменения: боль стартапов и коворкингов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29350" y="1485900"/>
            <a:ext cx="5581650" cy="1676400"/>
          </a:xfrm>
          <a:custGeom>
            <a:avLst/>
            <a:gdLst/>
            <a:ahLst/>
            <a:cxnLst/>
            <a:rect l="l" t="t" r="r" b="b"/>
            <a:pathLst>
              <a:path w="5581650" h="1676400">
                <a:moveTo>
                  <a:pt x="0" y="0"/>
                </a:moveTo>
                <a:lnTo>
                  <a:pt x="5581650" y="0"/>
                </a:lnTo>
                <a:lnTo>
                  <a:pt x="5581650" y="1676400"/>
                </a:lnTo>
                <a:lnTo>
                  <a:pt x="0" y="1676400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1" name="Shape 9"/>
          <p:cNvSpPr/>
          <p:nvPr/>
        </p:nvSpPr>
        <p:spPr>
          <a:xfrm>
            <a:off x="6229350" y="1485900"/>
            <a:ext cx="38100" cy="1676400"/>
          </a:xfrm>
          <a:custGeom>
            <a:avLst/>
            <a:gdLst/>
            <a:ahLst/>
            <a:cxnLst/>
            <a:rect l="l" t="t" r="r" b="b"/>
            <a:pathLst>
              <a:path w="38100" h="1676400">
                <a:moveTo>
                  <a:pt x="0" y="0"/>
                </a:moveTo>
                <a:lnTo>
                  <a:pt x="38100" y="0"/>
                </a:lnTo>
                <a:lnTo>
                  <a:pt x="38100" y="1676400"/>
                </a:lnTo>
                <a:lnTo>
                  <a:pt x="0" y="16764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12" name="Shape 10"/>
          <p:cNvSpPr/>
          <p:nvPr/>
        </p:nvSpPr>
        <p:spPr>
          <a:xfrm>
            <a:off x="6553200" y="19907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13" name="Text 11"/>
          <p:cNvSpPr/>
          <p:nvPr/>
        </p:nvSpPr>
        <p:spPr>
          <a:xfrm>
            <a:off x="6680522" y="2105025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77100" y="1990725"/>
            <a:ext cx="4124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Решение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77100" y="2409825"/>
            <a:ext cx="40862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UNTITLED 2.0 — инфраструктурный слой для фаундеров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3390900"/>
            <a:ext cx="5581650" cy="1428750"/>
          </a:xfrm>
          <a:custGeom>
            <a:avLst/>
            <a:gdLst/>
            <a:ahLst/>
            <a:cxnLst/>
            <a:rect l="l" t="t" r="r" b="b"/>
            <a:pathLst>
              <a:path w="5581650" h="1428750">
                <a:moveTo>
                  <a:pt x="0" y="0"/>
                </a:moveTo>
                <a:lnTo>
                  <a:pt x="5581650" y="0"/>
                </a:lnTo>
                <a:lnTo>
                  <a:pt x="5581650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7" name="Shape 15"/>
          <p:cNvSpPr/>
          <p:nvPr/>
        </p:nvSpPr>
        <p:spPr>
          <a:xfrm>
            <a:off x="400050" y="3390900"/>
            <a:ext cx="38100" cy="1428750"/>
          </a:xfrm>
          <a:custGeom>
            <a:avLst/>
            <a:gdLst/>
            <a:ahLst/>
            <a:cxnLst/>
            <a:rect l="l" t="t" r="r" b="b"/>
            <a:pathLst>
              <a:path w="38100" h="1428750">
                <a:moveTo>
                  <a:pt x="0" y="0"/>
                </a:moveTo>
                <a:lnTo>
                  <a:pt x="38100" y="0"/>
                </a:lnTo>
                <a:lnTo>
                  <a:pt x="38100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18" name="Shape 16"/>
          <p:cNvSpPr/>
          <p:nvPr/>
        </p:nvSpPr>
        <p:spPr>
          <a:xfrm>
            <a:off x="723900" y="3771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19" name="Text 17"/>
          <p:cNvSpPr/>
          <p:nvPr/>
        </p:nvSpPr>
        <p:spPr>
          <a:xfrm>
            <a:off x="850181" y="388620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47800" y="3771900"/>
            <a:ext cx="3000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Ваш ROI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47800" y="4191000"/>
            <a:ext cx="29622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Что получает коворкинг от партнерства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29350" y="3390900"/>
            <a:ext cx="5581650" cy="1428750"/>
          </a:xfrm>
          <a:custGeom>
            <a:avLst/>
            <a:gdLst/>
            <a:ahLst/>
            <a:cxnLst/>
            <a:rect l="l" t="t" r="r" b="b"/>
            <a:pathLst>
              <a:path w="5581650" h="1428750">
                <a:moveTo>
                  <a:pt x="0" y="0"/>
                </a:moveTo>
                <a:lnTo>
                  <a:pt x="5581650" y="0"/>
                </a:lnTo>
                <a:lnTo>
                  <a:pt x="5581650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23" name="Shape 21"/>
          <p:cNvSpPr/>
          <p:nvPr/>
        </p:nvSpPr>
        <p:spPr>
          <a:xfrm>
            <a:off x="6229350" y="3390900"/>
            <a:ext cx="38100" cy="1428750"/>
          </a:xfrm>
          <a:custGeom>
            <a:avLst/>
            <a:gdLst/>
            <a:ahLst/>
            <a:cxnLst/>
            <a:rect l="l" t="t" r="r" b="b"/>
            <a:pathLst>
              <a:path w="38100" h="1428750">
                <a:moveTo>
                  <a:pt x="0" y="0"/>
                </a:moveTo>
                <a:lnTo>
                  <a:pt x="38100" y="0"/>
                </a:lnTo>
                <a:lnTo>
                  <a:pt x="38100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53200" y="3771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25" name="Text 23"/>
          <p:cNvSpPr/>
          <p:nvPr/>
        </p:nvSpPr>
        <p:spPr>
          <a:xfrm>
            <a:off x="6679629" y="388620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77100" y="3771900"/>
            <a:ext cx="31908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Модель партнерства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77100" y="4191000"/>
            <a:ext cx="31527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Win-Win интеграция на бартерной основе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00050" y="5048250"/>
            <a:ext cx="5581650" cy="1428750"/>
          </a:xfrm>
          <a:custGeom>
            <a:avLst/>
            <a:gdLst/>
            <a:ahLst/>
            <a:cxnLst/>
            <a:rect l="l" t="t" r="r" b="b"/>
            <a:pathLst>
              <a:path w="5581650" h="1428750">
                <a:moveTo>
                  <a:pt x="0" y="0"/>
                </a:moveTo>
                <a:lnTo>
                  <a:pt x="5581650" y="0"/>
                </a:lnTo>
                <a:lnTo>
                  <a:pt x="5581650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29" name="Shape 27"/>
          <p:cNvSpPr/>
          <p:nvPr/>
        </p:nvSpPr>
        <p:spPr>
          <a:xfrm>
            <a:off x="400050" y="5048250"/>
            <a:ext cx="38100" cy="1428750"/>
          </a:xfrm>
          <a:custGeom>
            <a:avLst/>
            <a:gdLst/>
            <a:ahLst/>
            <a:cxnLst/>
            <a:rect l="l" t="t" r="r" b="b"/>
            <a:pathLst>
              <a:path w="38100" h="1428750">
                <a:moveTo>
                  <a:pt x="0" y="0"/>
                </a:moveTo>
                <a:lnTo>
                  <a:pt x="38100" y="0"/>
                </a:lnTo>
                <a:lnTo>
                  <a:pt x="38100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30" name="Shape 28"/>
          <p:cNvSpPr/>
          <p:nvPr/>
        </p:nvSpPr>
        <p:spPr>
          <a:xfrm>
            <a:off x="723900" y="54292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31" name="Text 29"/>
          <p:cNvSpPr/>
          <p:nvPr/>
        </p:nvSpPr>
        <p:spPr>
          <a:xfrm>
            <a:off x="851818" y="554355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447800" y="5429250"/>
            <a:ext cx="2181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Roadmap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47800" y="5848350"/>
            <a:ext cx="21431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План на ближайшие 60 дней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29350" y="5048250"/>
            <a:ext cx="5581650" cy="1428750"/>
          </a:xfrm>
          <a:custGeom>
            <a:avLst/>
            <a:gdLst/>
            <a:ahLst/>
            <a:cxnLst/>
            <a:rect l="l" t="t" r="r" b="b"/>
            <a:pathLst>
              <a:path w="5581650" h="1428750">
                <a:moveTo>
                  <a:pt x="0" y="0"/>
                </a:moveTo>
                <a:lnTo>
                  <a:pt x="5581650" y="0"/>
                </a:lnTo>
                <a:lnTo>
                  <a:pt x="5581650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35" name="Shape 33"/>
          <p:cNvSpPr/>
          <p:nvPr/>
        </p:nvSpPr>
        <p:spPr>
          <a:xfrm>
            <a:off x="6229350" y="5048250"/>
            <a:ext cx="38100" cy="1428750"/>
          </a:xfrm>
          <a:custGeom>
            <a:avLst/>
            <a:gdLst/>
            <a:ahLst/>
            <a:cxnLst/>
            <a:rect l="l" t="t" r="r" b="b"/>
            <a:pathLst>
              <a:path w="38100" h="1428750">
                <a:moveTo>
                  <a:pt x="0" y="0"/>
                </a:moveTo>
                <a:lnTo>
                  <a:pt x="38100" y="0"/>
                </a:lnTo>
                <a:lnTo>
                  <a:pt x="38100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36" name="Shape 34"/>
          <p:cNvSpPr/>
          <p:nvPr/>
        </p:nvSpPr>
        <p:spPr>
          <a:xfrm>
            <a:off x="6553200" y="54292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37" name="Text 35"/>
          <p:cNvSpPr/>
          <p:nvPr/>
        </p:nvSpPr>
        <p:spPr>
          <a:xfrm>
            <a:off x="6678588" y="5543550"/>
            <a:ext cx="400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277100" y="5429250"/>
            <a:ext cx="2638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Контакты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277100" y="5848350"/>
            <a:ext cx="26003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Свяжитесь с нами для обсуждения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 / ПРОБЛЕМА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Продавать столы фрилансерам —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это не строить экосистему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2057400"/>
            <a:ext cx="3686175" cy="3838575"/>
          </a:xfrm>
          <a:custGeom>
            <a:avLst/>
            <a:gdLst/>
            <a:ahLst/>
            <a:cxnLst/>
            <a:rect l="l" t="t" r="r" b="b"/>
            <a:pathLst>
              <a:path w="3686175" h="3838575">
                <a:moveTo>
                  <a:pt x="0" y="0"/>
                </a:moveTo>
                <a:lnTo>
                  <a:pt x="3686175" y="0"/>
                </a:lnTo>
                <a:lnTo>
                  <a:pt x="3686175" y="3838575"/>
                </a:lnTo>
                <a:lnTo>
                  <a:pt x="0" y="3838575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" name="Shape 3"/>
          <p:cNvSpPr/>
          <p:nvPr/>
        </p:nvSpPr>
        <p:spPr>
          <a:xfrm>
            <a:off x="609600" y="228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6" name="Shape 4"/>
          <p:cNvSpPr/>
          <p:nvPr/>
        </p:nvSpPr>
        <p:spPr>
          <a:xfrm>
            <a:off x="742950" y="24193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1181100" y="2381250"/>
            <a:ext cx="1438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Боль стартапов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600" y="3300413"/>
            <a:ext cx="1445344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BF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90%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4148137"/>
            <a:ext cx="33051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проектов в Узбекистане </a:t>
            </a: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тонут в ручной операционке</a:t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и не доживают до первых инвестиций. Им нужны не мотивационные митапы, а </a:t>
            </a:r>
            <a:r>
              <a:rPr lang="en-US" sz="1200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инструменты</a:t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54475" y="2057400"/>
            <a:ext cx="3686175" cy="3838575"/>
          </a:xfrm>
          <a:custGeom>
            <a:avLst/>
            <a:gdLst/>
            <a:ahLst/>
            <a:cxnLst/>
            <a:rect l="l" t="t" r="r" b="b"/>
            <a:pathLst>
              <a:path w="3686175" h="3838575">
                <a:moveTo>
                  <a:pt x="0" y="0"/>
                </a:moveTo>
                <a:lnTo>
                  <a:pt x="3686175" y="0"/>
                </a:lnTo>
                <a:lnTo>
                  <a:pt x="3686175" y="3838575"/>
                </a:lnTo>
                <a:lnTo>
                  <a:pt x="0" y="3838575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1" name="Shape 9"/>
          <p:cNvSpPr/>
          <p:nvPr/>
        </p:nvSpPr>
        <p:spPr>
          <a:xfrm>
            <a:off x="4483075" y="228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12" name="Shape 10"/>
          <p:cNvSpPr/>
          <p:nvPr/>
        </p:nvSpPr>
        <p:spPr>
          <a:xfrm>
            <a:off x="4640238" y="24193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65484" y="130969"/>
                </a:moveTo>
                <a:lnTo>
                  <a:pt x="77391" y="130969"/>
                </a:lnTo>
                <a:cubicBezTo>
                  <a:pt x="83976" y="130969"/>
                  <a:pt x="89297" y="136289"/>
                  <a:pt x="89297" y="142875"/>
                </a:cubicBezTo>
                <a:lnTo>
                  <a:pt x="89297" y="172641"/>
                </a:lnTo>
                <a:lnTo>
                  <a:pt x="53578" y="172641"/>
                </a:lnTo>
                <a:lnTo>
                  <a:pt x="53578" y="142875"/>
                </a:lnTo>
                <a:cubicBezTo>
                  <a:pt x="53578" y="136289"/>
                  <a:pt x="58899" y="130969"/>
                  <a:pt x="65484" y="130969"/>
                </a:cubicBezTo>
                <a:close/>
                <a:moveTo>
                  <a:pt x="35719" y="41672"/>
                </a:moveTo>
                <a:cubicBezTo>
                  <a:pt x="35719" y="38398"/>
                  <a:pt x="38398" y="35719"/>
                  <a:pt x="41672" y="35719"/>
                </a:cubicBezTo>
                <a:lnTo>
                  <a:pt x="53578" y="35719"/>
                </a:lnTo>
                <a:cubicBezTo>
                  <a:pt x="56852" y="35719"/>
                  <a:pt x="59531" y="38398"/>
                  <a:pt x="59531" y="41672"/>
                </a:cubicBezTo>
                <a:lnTo>
                  <a:pt x="59531" y="53578"/>
                </a:lnTo>
                <a:cubicBezTo>
                  <a:pt x="59531" y="56852"/>
                  <a:pt x="56852" y="59531"/>
                  <a:pt x="53578" y="59531"/>
                </a:cubicBezTo>
                <a:lnTo>
                  <a:pt x="41672" y="59531"/>
                </a:lnTo>
                <a:cubicBezTo>
                  <a:pt x="38398" y="59531"/>
                  <a:pt x="35719" y="56852"/>
                  <a:pt x="35719" y="53578"/>
                </a:cubicBezTo>
                <a:lnTo>
                  <a:pt x="35719" y="41672"/>
                </a:lnTo>
                <a:close/>
                <a:moveTo>
                  <a:pt x="89297" y="35719"/>
                </a:moveTo>
                <a:lnTo>
                  <a:pt x="101203" y="35719"/>
                </a:lnTo>
                <a:cubicBezTo>
                  <a:pt x="104477" y="35719"/>
                  <a:pt x="107156" y="38398"/>
                  <a:pt x="107156" y="41672"/>
                </a:cubicBezTo>
                <a:lnTo>
                  <a:pt x="107156" y="53578"/>
                </a:lnTo>
                <a:cubicBezTo>
                  <a:pt x="107156" y="56852"/>
                  <a:pt x="104477" y="59531"/>
                  <a:pt x="101203" y="59531"/>
                </a:cubicBezTo>
                <a:lnTo>
                  <a:pt x="89297" y="59531"/>
                </a:lnTo>
                <a:cubicBezTo>
                  <a:pt x="86023" y="59531"/>
                  <a:pt x="83344" y="56852"/>
                  <a:pt x="83344" y="53578"/>
                </a:cubicBezTo>
                <a:lnTo>
                  <a:pt x="83344" y="41672"/>
                </a:lnTo>
                <a:cubicBezTo>
                  <a:pt x="83344" y="38398"/>
                  <a:pt x="86023" y="35719"/>
                  <a:pt x="89297" y="35719"/>
                </a:cubicBezTo>
                <a:close/>
                <a:moveTo>
                  <a:pt x="35719" y="89297"/>
                </a:moveTo>
                <a:cubicBezTo>
                  <a:pt x="35719" y="86023"/>
                  <a:pt x="38398" y="83344"/>
                  <a:pt x="41672" y="83344"/>
                </a:cubicBezTo>
                <a:lnTo>
                  <a:pt x="53578" y="83344"/>
                </a:lnTo>
                <a:cubicBezTo>
                  <a:pt x="56852" y="83344"/>
                  <a:pt x="59531" y="86023"/>
                  <a:pt x="59531" y="89297"/>
                </a:cubicBezTo>
                <a:lnTo>
                  <a:pt x="59531" y="101203"/>
                </a:lnTo>
                <a:cubicBezTo>
                  <a:pt x="59531" y="104477"/>
                  <a:pt x="56852" y="107156"/>
                  <a:pt x="53578" y="107156"/>
                </a:cubicBezTo>
                <a:lnTo>
                  <a:pt x="41672" y="107156"/>
                </a:lnTo>
                <a:cubicBezTo>
                  <a:pt x="38398" y="107156"/>
                  <a:pt x="35719" y="104477"/>
                  <a:pt x="35719" y="101203"/>
                </a:cubicBezTo>
                <a:lnTo>
                  <a:pt x="35719" y="89297"/>
                </a:lnTo>
                <a:close/>
                <a:moveTo>
                  <a:pt x="89297" y="83344"/>
                </a:moveTo>
                <a:lnTo>
                  <a:pt x="101203" y="83344"/>
                </a:lnTo>
                <a:cubicBezTo>
                  <a:pt x="104477" y="83344"/>
                  <a:pt x="107156" y="86023"/>
                  <a:pt x="107156" y="89297"/>
                </a:cubicBezTo>
                <a:lnTo>
                  <a:pt x="107156" y="101203"/>
                </a:lnTo>
                <a:cubicBezTo>
                  <a:pt x="107156" y="104477"/>
                  <a:pt x="104477" y="107156"/>
                  <a:pt x="101203" y="107156"/>
                </a:cubicBezTo>
                <a:lnTo>
                  <a:pt x="89297" y="107156"/>
                </a:lnTo>
                <a:cubicBezTo>
                  <a:pt x="86023" y="107156"/>
                  <a:pt x="83344" y="104477"/>
                  <a:pt x="83344" y="101203"/>
                </a:cubicBezTo>
                <a:lnTo>
                  <a:pt x="83344" y="89297"/>
                </a:lnTo>
                <a:cubicBezTo>
                  <a:pt x="83344" y="86023"/>
                  <a:pt x="86023" y="83344"/>
                  <a:pt x="89297" y="83344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5054575" y="2381250"/>
            <a:ext cx="1647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Боль коворкингов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83075" y="3586163"/>
            <a:ext cx="33051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Высокий отток (churn rate)</a:t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арендаторов. Стартапы сжигают деньги и съезжают.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83075" y="4233863"/>
            <a:ext cx="33051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Локациям не хватает </a:t>
            </a:r>
            <a:r>
              <a:rPr lang="en-US" sz="1200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качественного комьюнити</a:t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которое удерживает резидентов годами.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27950" y="2057400"/>
            <a:ext cx="3686175" cy="3838575"/>
          </a:xfrm>
          <a:custGeom>
            <a:avLst/>
            <a:gdLst/>
            <a:ahLst/>
            <a:cxnLst/>
            <a:rect l="l" t="t" r="r" b="b"/>
            <a:pathLst>
              <a:path w="3686175" h="3838575">
                <a:moveTo>
                  <a:pt x="0" y="0"/>
                </a:moveTo>
                <a:lnTo>
                  <a:pt x="3686175" y="0"/>
                </a:lnTo>
                <a:lnTo>
                  <a:pt x="3686175" y="3838575"/>
                </a:lnTo>
                <a:lnTo>
                  <a:pt x="0" y="3838575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17" name="Shape 15"/>
          <p:cNvSpPr/>
          <p:nvPr/>
        </p:nvSpPr>
        <p:spPr>
          <a:xfrm>
            <a:off x="8356550" y="228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18" name="Shape 16"/>
          <p:cNvSpPr/>
          <p:nvPr/>
        </p:nvSpPr>
        <p:spPr>
          <a:xfrm>
            <a:off x="8513713" y="24193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19" name="Text 17"/>
          <p:cNvSpPr/>
          <p:nvPr/>
        </p:nvSpPr>
        <p:spPr>
          <a:xfrm>
            <a:off x="8928050" y="2381250"/>
            <a:ext cx="657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Вывод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56550" y="3724275"/>
            <a:ext cx="33147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Рынку нужен системный фильтр и инфраструктура, которая превращает «гаражные» идеи в бизнесы с твердой юнит-экономикой.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1000" y="60912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888605" y="628173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76200" y="40481"/>
                </a:moveTo>
                <a:cubicBezTo>
                  <a:pt x="80159" y="40481"/>
                  <a:pt x="83344" y="43666"/>
                  <a:pt x="83344" y="47625"/>
                </a:cubicBezTo>
                <a:lnTo>
                  <a:pt x="83344" y="80962"/>
                </a:lnTo>
                <a:cubicBezTo>
                  <a:pt x="83344" y="84921"/>
                  <a:pt x="80159" y="88106"/>
                  <a:pt x="76200" y="88106"/>
                </a:cubicBezTo>
                <a:cubicBezTo>
                  <a:pt x="72241" y="88106"/>
                  <a:pt x="69056" y="84921"/>
                  <a:pt x="69056" y="80962"/>
                </a:cubicBezTo>
                <a:lnTo>
                  <a:pt x="69056" y="47625"/>
                </a:lnTo>
                <a:cubicBezTo>
                  <a:pt x="69056" y="43666"/>
                  <a:pt x="72241" y="40481"/>
                  <a:pt x="76200" y="40481"/>
                </a:cubicBezTo>
                <a:close/>
                <a:moveTo>
                  <a:pt x="68253" y="104775"/>
                </a:moveTo>
                <a:cubicBezTo>
                  <a:pt x="68072" y="101825"/>
                  <a:pt x="69543" y="99018"/>
                  <a:pt x="72072" y="97489"/>
                </a:cubicBezTo>
                <a:cubicBezTo>
                  <a:pt x="74601" y="95959"/>
                  <a:pt x="77770" y="95959"/>
                  <a:pt x="80298" y="97489"/>
                </a:cubicBezTo>
                <a:cubicBezTo>
                  <a:pt x="82827" y="99018"/>
                  <a:pt x="84298" y="101825"/>
                  <a:pt x="84118" y="104775"/>
                </a:cubicBezTo>
                <a:cubicBezTo>
                  <a:pt x="84298" y="107725"/>
                  <a:pt x="82827" y="110532"/>
                  <a:pt x="80298" y="112061"/>
                </a:cubicBezTo>
                <a:cubicBezTo>
                  <a:pt x="77770" y="113591"/>
                  <a:pt x="74601" y="113591"/>
                  <a:pt x="72072" y="112061"/>
                </a:cubicBezTo>
                <a:cubicBezTo>
                  <a:pt x="69543" y="110532"/>
                  <a:pt x="68072" y="107725"/>
                  <a:pt x="68253" y="104775"/>
                </a:cubicBez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23" name="Text 21"/>
          <p:cNvSpPr/>
          <p:nvPr/>
        </p:nvSpPr>
        <p:spPr>
          <a:xfrm>
            <a:off x="590550" y="6248400"/>
            <a:ext cx="1125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Рынок перенасыщен «мотивацией», но не хватает реальных инструментов для роста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/ РЕШЕНИЕ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UNTITLED 2.0 — Инфраструктурный слой для фаундеров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304925"/>
            <a:ext cx="5915025" cy="1466850"/>
          </a:xfrm>
          <a:custGeom>
            <a:avLst/>
            <a:gdLst/>
            <a:ahLst/>
            <a:cxnLst/>
            <a:rect l="l" t="t" r="r" b="b"/>
            <a:pathLst>
              <a:path w="5915025" h="1466850">
                <a:moveTo>
                  <a:pt x="0" y="0"/>
                </a:moveTo>
                <a:lnTo>
                  <a:pt x="5915025" y="0"/>
                </a:lnTo>
                <a:lnTo>
                  <a:pt x="5915025" y="1466850"/>
                </a:lnTo>
                <a:lnTo>
                  <a:pt x="0" y="1466850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304925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0" y="146685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4954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7" name="Shape 5"/>
          <p:cNvSpPr/>
          <p:nvPr/>
        </p:nvSpPr>
        <p:spPr>
          <a:xfrm>
            <a:off x="733425" y="164782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1495425"/>
            <a:ext cx="492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Что мы делаем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95400" y="1838325"/>
            <a:ext cx="49053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Приходим в стартапы, проводим </a:t>
            </a:r>
            <a:r>
              <a:rPr lang="en-US" sz="1200" b="1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жесткий аудит</a:t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внедряем </a:t>
            </a:r>
            <a:r>
              <a:rPr lang="en-US" sz="1200" b="1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AI-агентов</a:t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собираем финмодели и упаковываем проекты для венчурных фондов.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2924175"/>
            <a:ext cx="5915025" cy="1219200"/>
          </a:xfrm>
          <a:custGeom>
            <a:avLst/>
            <a:gdLst/>
            <a:ahLst/>
            <a:cxnLst/>
            <a:rect l="l" t="t" r="r" b="b"/>
            <a:pathLst>
              <a:path w="5915025" h="1219200">
                <a:moveTo>
                  <a:pt x="0" y="0"/>
                </a:moveTo>
                <a:lnTo>
                  <a:pt x="5915025" y="0"/>
                </a:lnTo>
                <a:lnTo>
                  <a:pt x="5915025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1" name="Shape 9"/>
          <p:cNvSpPr/>
          <p:nvPr/>
        </p:nvSpPr>
        <p:spPr>
          <a:xfrm>
            <a:off x="400050" y="2924175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12" name="Shape 10"/>
          <p:cNvSpPr/>
          <p:nvPr/>
        </p:nvSpPr>
        <p:spPr>
          <a:xfrm>
            <a:off x="609600" y="31146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32670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28575"/>
                </a:moveTo>
                <a:cubicBezTo>
                  <a:pt x="8528" y="28575"/>
                  <a:pt x="3304" y="32058"/>
                  <a:pt x="1072" y="37415"/>
                </a:cubicBezTo>
                <a:cubicBezTo>
                  <a:pt x="-1161" y="42773"/>
                  <a:pt x="89" y="48890"/>
                  <a:pt x="4197" y="52953"/>
                </a:cubicBezTo>
                <a:lnTo>
                  <a:pt x="85725" y="134526"/>
                </a:lnTo>
                <a:lnTo>
                  <a:pt x="85725" y="185738"/>
                </a:lnTo>
                <a:cubicBezTo>
                  <a:pt x="85725" y="189533"/>
                  <a:pt x="87243" y="193149"/>
                  <a:pt x="89922" y="195828"/>
                </a:cubicBezTo>
                <a:lnTo>
                  <a:pt x="118497" y="224403"/>
                </a:lnTo>
                <a:cubicBezTo>
                  <a:pt x="122605" y="228511"/>
                  <a:pt x="128721" y="229716"/>
                  <a:pt x="134079" y="227484"/>
                </a:cubicBezTo>
                <a:cubicBezTo>
                  <a:pt x="139437" y="225251"/>
                  <a:pt x="142875" y="220072"/>
                  <a:pt x="142875" y="214313"/>
                </a:cubicBezTo>
                <a:lnTo>
                  <a:pt x="142875" y="134526"/>
                </a:lnTo>
                <a:lnTo>
                  <a:pt x="224403" y="52998"/>
                </a:lnTo>
                <a:cubicBezTo>
                  <a:pt x="228511" y="48890"/>
                  <a:pt x="229716" y="42773"/>
                  <a:pt x="227484" y="37415"/>
                </a:cubicBezTo>
                <a:cubicBezTo>
                  <a:pt x="225251" y="32058"/>
                  <a:pt x="220072" y="28575"/>
                  <a:pt x="214313" y="28575"/>
                </a:cubicBezTo>
                <a:lnTo>
                  <a:pt x="14288" y="28575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3114675"/>
            <a:ext cx="492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Наша роль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95400" y="3457575"/>
            <a:ext cx="4905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Главный фильтр качества</a:t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между фаундерами и капиталом. Мы доводим проекты до </a:t>
            </a:r>
            <a:r>
              <a:rPr lang="en-US" sz="1200" b="1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инвестиционной готовности</a:t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4295775"/>
            <a:ext cx="5915025" cy="1219200"/>
          </a:xfrm>
          <a:custGeom>
            <a:avLst/>
            <a:gdLst/>
            <a:ahLst/>
            <a:cxnLst/>
            <a:rect l="l" t="t" r="r" b="b"/>
            <a:pathLst>
              <a:path w="5915025" h="1219200">
                <a:moveTo>
                  <a:pt x="0" y="0"/>
                </a:moveTo>
                <a:lnTo>
                  <a:pt x="5915025" y="0"/>
                </a:lnTo>
                <a:lnTo>
                  <a:pt x="5915025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7" name="Shape 15"/>
          <p:cNvSpPr/>
          <p:nvPr/>
        </p:nvSpPr>
        <p:spPr>
          <a:xfrm>
            <a:off x="400050" y="4295775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600" y="44862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19" name="Shape 17"/>
          <p:cNvSpPr/>
          <p:nvPr/>
        </p:nvSpPr>
        <p:spPr>
          <a:xfrm>
            <a:off x="747713" y="463867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42863" y="28575"/>
                </a:moveTo>
                <a:cubicBezTo>
                  <a:pt x="27102" y="28575"/>
                  <a:pt x="14288" y="41389"/>
                  <a:pt x="14288" y="57150"/>
                </a:cubicBezTo>
                <a:lnTo>
                  <a:pt x="14288" y="171450"/>
                </a:lnTo>
                <a:cubicBezTo>
                  <a:pt x="14288" y="187211"/>
                  <a:pt x="27102" y="200025"/>
                  <a:pt x="42863" y="200025"/>
                </a:cubicBezTo>
                <a:lnTo>
                  <a:pt x="157163" y="200025"/>
                </a:lnTo>
                <a:cubicBezTo>
                  <a:pt x="172923" y="200025"/>
                  <a:pt x="185738" y="187211"/>
                  <a:pt x="185738" y="171450"/>
                </a:cubicBezTo>
                <a:lnTo>
                  <a:pt x="185738" y="57150"/>
                </a:lnTo>
                <a:cubicBezTo>
                  <a:pt x="185738" y="41389"/>
                  <a:pt x="172923" y="28575"/>
                  <a:pt x="157163" y="28575"/>
                </a:cubicBezTo>
                <a:lnTo>
                  <a:pt x="42863" y="28575"/>
                </a:lnTo>
                <a:close/>
                <a:moveTo>
                  <a:pt x="207169" y="150019"/>
                </a:moveTo>
                <a:lnTo>
                  <a:pt x="239985" y="176272"/>
                </a:lnTo>
                <a:cubicBezTo>
                  <a:pt x="241861" y="177790"/>
                  <a:pt x="244182" y="178594"/>
                  <a:pt x="246593" y="178594"/>
                </a:cubicBezTo>
                <a:cubicBezTo>
                  <a:pt x="252442" y="178594"/>
                  <a:pt x="257175" y="173861"/>
                  <a:pt x="257175" y="168012"/>
                </a:cubicBezTo>
                <a:lnTo>
                  <a:pt x="257175" y="60588"/>
                </a:lnTo>
                <a:cubicBezTo>
                  <a:pt x="257175" y="54739"/>
                  <a:pt x="252442" y="50006"/>
                  <a:pt x="246593" y="50006"/>
                </a:cubicBezTo>
                <a:cubicBezTo>
                  <a:pt x="244182" y="50006"/>
                  <a:pt x="241861" y="50810"/>
                  <a:pt x="239985" y="52328"/>
                </a:cubicBezTo>
                <a:lnTo>
                  <a:pt x="207169" y="78581"/>
                </a:lnTo>
                <a:lnTo>
                  <a:pt x="207169" y="150019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20" name="Text 18"/>
          <p:cNvSpPr/>
          <p:nvPr/>
        </p:nvSpPr>
        <p:spPr>
          <a:xfrm>
            <a:off x="1295400" y="4486275"/>
            <a:ext cx="492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Наш контент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95400" y="4829175"/>
            <a:ext cx="4905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Весь процесс «починки» стартапов мы снимаем и превращаем в </a:t>
            </a:r>
            <a:r>
              <a:rPr lang="en-US" sz="1200" b="1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виральные реалити-шоу</a:t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подкасты и блиц-интервью.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501780" y="1304925"/>
            <a:ext cx="5305425" cy="5172075"/>
          </a:xfrm>
          <a:custGeom>
            <a:avLst/>
            <a:gdLst/>
            <a:ahLst/>
            <a:cxnLst/>
            <a:rect l="l" t="t" r="r" b="b"/>
            <a:pathLst>
              <a:path w="5305425" h="5172075">
                <a:moveTo>
                  <a:pt x="0" y="0"/>
                </a:moveTo>
                <a:lnTo>
                  <a:pt x="5305425" y="0"/>
                </a:lnTo>
                <a:lnTo>
                  <a:pt x="5305425" y="5172075"/>
                </a:lnTo>
                <a:lnTo>
                  <a:pt x="0" y="5172075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23" name="Shape 21"/>
          <p:cNvSpPr/>
          <p:nvPr/>
        </p:nvSpPr>
        <p:spPr>
          <a:xfrm>
            <a:off x="6787530" y="15335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7163" y="21431"/>
                </a:moveTo>
                <a:cubicBezTo>
                  <a:pt x="157163" y="9555"/>
                  <a:pt x="147608" y="0"/>
                  <a:pt x="135731" y="0"/>
                </a:cubicBezTo>
                <a:cubicBezTo>
                  <a:pt x="123855" y="0"/>
                  <a:pt x="114300" y="9555"/>
                  <a:pt x="114300" y="21431"/>
                </a:cubicBezTo>
                <a:lnTo>
                  <a:pt x="114300" y="57150"/>
                </a:lnTo>
                <a:cubicBezTo>
                  <a:pt x="82778" y="57150"/>
                  <a:pt x="57150" y="82778"/>
                  <a:pt x="57150" y="114300"/>
                </a:cubicBezTo>
                <a:lnTo>
                  <a:pt x="21431" y="114300"/>
                </a:lnTo>
                <a:cubicBezTo>
                  <a:pt x="9555" y="114300"/>
                  <a:pt x="0" y="123855"/>
                  <a:pt x="0" y="135731"/>
                </a:cubicBezTo>
                <a:cubicBezTo>
                  <a:pt x="0" y="147608"/>
                  <a:pt x="9555" y="157163"/>
                  <a:pt x="21431" y="157163"/>
                </a:cubicBezTo>
                <a:lnTo>
                  <a:pt x="57150" y="157163"/>
                </a:lnTo>
                <a:lnTo>
                  <a:pt x="57150" y="207169"/>
                </a:lnTo>
                <a:lnTo>
                  <a:pt x="21431" y="207169"/>
                </a:lnTo>
                <a:cubicBezTo>
                  <a:pt x="9555" y="207169"/>
                  <a:pt x="0" y="216724"/>
                  <a:pt x="0" y="228600"/>
                </a:cubicBezTo>
                <a:cubicBezTo>
                  <a:pt x="0" y="240476"/>
                  <a:pt x="9555" y="250031"/>
                  <a:pt x="21431" y="250031"/>
                </a:cubicBezTo>
                <a:lnTo>
                  <a:pt x="57150" y="250031"/>
                </a:lnTo>
                <a:lnTo>
                  <a:pt x="57150" y="300038"/>
                </a:lnTo>
                <a:lnTo>
                  <a:pt x="21431" y="300038"/>
                </a:lnTo>
                <a:cubicBezTo>
                  <a:pt x="9555" y="300038"/>
                  <a:pt x="0" y="309592"/>
                  <a:pt x="0" y="321469"/>
                </a:cubicBezTo>
                <a:cubicBezTo>
                  <a:pt x="0" y="333345"/>
                  <a:pt x="9555" y="342900"/>
                  <a:pt x="21431" y="342900"/>
                </a:cubicBezTo>
                <a:lnTo>
                  <a:pt x="57150" y="342900"/>
                </a:lnTo>
                <a:cubicBezTo>
                  <a:pt x="57150" y="374422"/>
                  <a:pt x="82778" y="400050"/>
                  <a:pt x="114300" y="400050"/>
                </a:cubicBezTo>
                <a:lnTo>
                  <a:pt x="114300" y="435769"/>
                </a:lnTo>
                <a:cubicBezTo>
                  <a:pt x="114300" y="447645"/>
                  <a:pt x="123855" y="457200"/>
                  <a:pt x="135731" y="457200"/>
                </a:cubicBezTo>
                <a:cubicBezTo>
                  <a:pt x="147608" y="457200"/>
                  <a:pt x="157163" y="447645"/>
                  <a:pt x="157163" y="435769"/>
                </a:cubicBezTo>
                <a:lnTo>
                  <a:pt x="157163" y="400050"/>
                </a:lnTo>
                <a:lnTo>
                  <a:pt x="207169" y="400050"/>
                </a:lnTo>
                <a:lnTo>
                  <a:pt x="207169" y="435769"/>
                </a:lnTo>
                <a:cubicBezTo>
                  <a:pt x="207169" y="447645"/>
                  <a:pt x="216724" y="457200"/>
                  <a:pt x="228600" y="457200"/>
                </a:cubicBezTo>
                <a:cubicBezTo>
                  <a:pt x="240476" y="457200"/>
                  <a:pt x="250031" y="447645"/>
                  <a:pt x="250031" y="435769"/>
                </a:cubicBezTo>
                <a:lnTo>
                  <a:pt x="250031" y="400050"/>
                </a:lnTo>
                <a:lnTo>
                  <a:pt x="300038" y="400050"/>
                </a:lnTo>
                <a:lnTo>
                  <a:pt x="300038" y="435769"/>
                </a:lnTo>
                <a:cubicBezTo>
                  <a:pt x="300038" y="447645"/>
                  <a:pt x="309592" y="457200"/>
                  <a:pt x="321469" y="457200"/>
                </a:cubicBezTo>
                <a:cubicBezTo>
                  <a:pt x="333345" y="457200"/>
                  <a:pt x="342900" y="447645"/>
                  <a:pt x="342900" y="435769"/>
                </a:cubicBezTo>
                <a:lnTo>
                  <a:pt x="342900" y="400050"/>
                </a:lnTo>
                <a:cubicBezTo>
                  <a:pt x="374422" y="400050"/>
                  <a:pt x="400050" y="374422"/>
                  <a:pt x="400050" y="342900"/>
                </a:cubicBezTo>
                <a:lnTo>
                  <a:pt x="435769" y="342900"/>
                </a:lnTo>
                <a:cubicBezTo>
                  <a:pt x="447645" y="342900"/>
                  <a:pt x="457200" y="333345"/>
                  <a:pt x="457200" y="321469"/>
                </a:cubicBezTo>
                <a:cubicBezTo>
                  <a:pt x="457200" y="309592"/>
                  <a:pt x="447645" y="300038"/>
                  <a:pt x="435769" y="300038"/>
                </a:cubicBezTo>
                <a:lnTo>
                  <a:pt x="400050" y="300038"/>
                </a:lnTo>
                <a:lnTo>
                  <a:pt x="400050" y="250031"/>
                </a:lnTo>
                <a:lnTo>
                  <a:pt x="435769" y="250031"/>
                </a:lnTo>
                <a:cubicBezTo>
                  <a:pt x="447645" y="250031"/>
                  <a:pt x="457200" y="240476"/>
                  <a:pt x="457200" y="228600"/>
                </a:cubicBezTo>
                <a:cubicBezTo>
                  <a:pt x="457200" y="216724"/>
                  <a:pt x="447645" y="207169"/>
                  <a:pt x="435769" y="207169"/>
                </a:cubicBezTo>
                <a:lnTo>
                  <a:pt x="400050" y="207169"/>
                </a:lnTo>
                <a:lnTo>
                  <a:pt x="400050" y="157163"/>
                </a:lnTo>
                <a:lnTo>
                  <a:pt x="435769" y="157163"/>
                </a:lnTo>
                <a:cubicBezTo>
                  <a:pt x="447645" y="157163"/>
                  <a:pt x="457200" y="147608"/>
                  <a:pt x="457200" y="135731"/>
                </a:cubicBezTo>
                <a:cubicBezTo>
                  <a:pt x="457200" y="123855"/>
                  <a:pt x="447645" y="114300"/>
                  <a:pt x="435769" y="114300"/>
                </a:cubicBezTo>
                <a:lnTo>
                  <a:pt x="400050" y="114300"/>
                </a:lnTo>
                <a:cubicBezTo>
                  <a:pt x="400050" y="82778"/>
                  <a:pt x="374422" y="57150"/>
                  <a:pt x="342900" y="57150"/>
                </a:cubicBezTo>
                <a:lnTo>
                  <a:pt x="342900" y="21431"/>
                </a:lnTo>
                <a:cubicBezTo>
                  <a:pt x="342900" y="9555"/>
                  <a:pt x="333345" y="0"/>
                  <a:pt x="321469" y="0"/>
                </a:cubicBezTo>
                <a:cubicBezTo>
                  <a:pt x="309592" y="0"/>
                  <a:pt x="300038" y="9555"/>
                  <a:pt x="300038" y="21431"/>
                </a:cubicBezTo>
                <a:lnTo>
                  <a:pt x="300038" y="57150"/>
                </a:lnTo>
                <a:lnTo>
                  <a:pt x="250031" y="57150"/>
                </a:lnTo>
                <a:lnTo>
                  <a:pt x="250031" y="21431"/>
                </a:lnTo>
                <a:cubicBezTo>
                  <a:pt x="250031" y="9555"/>
                  <a:pt x="240476" y="0"/>
                  <a:pt x="228600" y="0"/>
                </a:cubicBezTo>
                <a:cubicBezTo>
                  <a:pt x="216724" y="0"/>
                  <a:pt x="207169" y="9555"/>
                  <a:pt x="207169" y="21431"/>
                </a:cubicBezTo>
                <a:lnTo>
                  <a:pt x="207169" y="57150"/>
                </a:lnTo>
                <a:lnTo>
                  <a:pt x="157163" y="57150"/>
                </a:lnTo>
                <a:lnTo>
                  <a:pt x="157163" y="21431"/>
                </a:lnTo>
                <a:close/>
                <a:moveTo>
                  <a:pt x="142875" y="114300"/>
                </a:moveTo>
                <a:lnTo>
                  <a:pt x="314325" y="114300"/>
                </a:lnTo>
                <a:cubicBezTo>
                  <a:pt x="330131" y="114300"/>
                  <a:pt x="342900" y="127069"/>
                  <a:pt x="342900" y="142875"/>
                </a:cubicBezTo>
                <a:lnTo>
                  <a:pt x="342900" y="314325"/>
                </a:lnTo>
                <a:cubicBezTo>
                  <a:pt x="342900" y="330131"/>
                  <a:pt x="330131" y="342900"/>
                  <a:pt x="314325" y="342900"/>
                </a:cubicBezTo>
                <a:lnTo>
                  <a:pt x="142875" y="342900"/>
                </a:lnTo>
                <a:cubicBezTo>
                  <a:pt x="127069" y="342900"/>
                  <a:pt x="114300" y="330131"/>
                  <a:pt x="114300" y="314325"/>
                </a:cubicBezTo>
                <a:lnTo>
                  <a:pt x="114300" y="142875"/>
                </a:lnTo>
                <a:cubicBezTo>
                  <a:pt x="114300" y="127069"/>
                  <a:pt x="127069" y="114300"/>
                  <a:pt x="142875" y="114300"/>
                </a:cubicBezTo>
                <a:close/>
                <a:moveTo>
                  <a:pt x="157163" y="157163"/>
                </a:moveTo>
                <a:lnTo>
                  <a:pt x="157163" y="300038"/>
                </a:lnTo>
                <a:lnTo>
                  <a:pt x="300038" y="300038"/>
                </a:lnTo>
                <a:lnTo>
                  <a:pt x="300038" y="157163"/>
                </a:lnTo>
                <a:lnTo>
                  <a:pt x="157163" y="157163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24" name="Text 22"/>
          <p:cNvSpPr/>
          <p:nvPr/>
        </p:nvSpPr>
        <p:spPr>
          <a:xfrm>
            <a:off x="6730380" y="2143125"/>
            <a:ext cx="4991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Мы не медиа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730380" y="2600325"/>
            <a:ext cx="494347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Мы — </a:t>
            </a:r>
            <a:r>
              <a:rPr lang="en-US" sz="15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первая в Узбекистане</a:t>
            </a:r>
            <a:r>
              <a:rPr lang="en-US" sz="15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Founder OS (Операционная система для стартапов).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730380" y="35242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27" name="Text 25"/>
          <p:cNvSpPr/>
          <p:nvPr/>
        </p:nvSpPr>
        <p:spPr>
          <a:xfrm>
            <a:off x="6920880" y="3448050"/>
            <a:ext cx="1695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AI-аудит операционки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730380" y="38671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29" name="Text 27"/>
          <p:cNvSpPr/>
          <p:nvPr/>
        </p:nvSpPr>
        <p:spPr>
          <a:xfrm>
            <a:off x="6920880" y="3790950"/>
            <a:ext cx="153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Финмоделирование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730380" y="42100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31" name="Text 29"/>
          <p:cNvSpPr/>
          <p:nvPr/>
        </p:nvSpPr>
        <p:spPr>
          <a:xfrm>
            <a:off x="6920880" y="4133850"/>
            <a:ext cx="1914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Упаковка для инвесторов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730380" y="45529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33" name="Text 31"/>
          <p:cNvSpPr/>
          <p:nvPr/>
        </p:nvSpPr>
        <p:spPr>
          <a:xfrm>
            <a:off x="6920880" y="4476750"/>
            <a:ext cx="150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Виральный контент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730380" y="5553075"/>
            <a:ext cx="4848225" cy="19050"/>
          </a:xfrm>
          <a:custGeom>
            <a:avLst/>
            <a:gdLst/>
            <a:ahLst/>
            <a:cxnLst/>
            <a:rect l="l" t="t" r="r" b="b"/>
            <a:pathLst>
              <a:path w="4848225" h="19050">
                <a:moveTo>
                  <a:pt x="0" y="0"/>
                </a:moveTo>
                <a:lnTo>
                  <a:pt x="4848225" y="0"/>
                </a:lnTo>
                <a:lnTo>
                  <a:pt x="4848225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35" name="Text 33"/>
          <p:cNvSpPr/>
          <p:nvPr/>
        </p:nvSpPr>
        <p:spPr>
          <a:xfrm>
            <a:off x="6730380" y="5715000"/>
            <a:ext cx="4962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Founder OS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30380" y="6019800"/>
            <a:ext cx="492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Операционная система для стартапов Узбекистана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93500" y="576684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4D399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17540" y="635831"/>
            <a:ext cx="10820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Founder OS 2.0</a:t>
            </a:r>
            <a:r>
              <a:rPr lang="en-US" sz="2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: </a:t>
            </a:r>
            <a:r>
              <a:rPr lang="en-US" sz="2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От ручного хаоса к венчурной сделке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17540" y="1012615"/>
            <a:ext cx="8201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Мы не даем советы. Мы садимся рядом с фаундером и пересобираем бизнес на системном уровне.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00050" y="1431715"/>
            <a:ext cx="5619750" cy="2152650"/>
          </a:xfrm>
          <a:custGeom>
            <a:avLst/>
            <a:gdLst/>
            <a:ahLst/>
            <a:cxnLst/>
            <a:rect l="l" t="t" r="r" b="b"/>
            <a:pathLst>
              <a:path w="5619750" h="2152650">
                <a:moveTo>
                  <a:pt x="38100" y="0"/>
                </a:moveTo>
                <a:lnTo>
                  <a:pt x="5505444" y="0"/>
                </a:lnTo>
                <a:cubicBezTo>
                  <a:pt x="5568574" y="0"/>
                  <a:pt x="5619750" y="51176"/>
                  <a:pt x="5619750" y="114306"/>
                </a:cubicBezTo>
                <a:lnTo>
                  <a:pt x="5619750" y="2038344"/>
                </a:lnTo>
                <a:cubicBezTo>
                  <a:pt x="5619750" y="2101474"/>
                  <a:pt x="5568574" y="2152650"/>
                  <a:pt x="5505444" y="2152650"/>
                </a:cubicBezTo>
                <a:lnTo>
                  <a:pt x="38100" y="2152650"/>
                </a:lnTo>
                <a:cubicBezTo>
                  <a:pt x="17072" y="2152650"/>
                  <a:pt x="0" y="2135578"/>
                  <a:pt x="0" y="2114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2626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431715"/>
            <a:ext cx="38100" cy="2152650"/>
          </a:xfrm>
          <a:custGeom>
            <a:avLst/>
            <a:gdLst/>
            <a:ahLst/>
            <a:cxnLst/>
            <a:rect l="l" t="t" r="r" b="b"/>
            <a:pathLst>
              <a:path w="38100" h="2152650">
                <a:moveTo>
                  <a:pt x="38100" y="0"/>
                </a:moveTo>
                <a:lnTo>
                  <a:pt x="38100" y="0"/>
                </a:lnTo>
                <a:lnTo>
                  <a:pt x="38100" y="2152650"/>
                </a:lnTo>
                <a:lnTo>
                  <a:pt x="38100" y="2152650"/>
                </a:lnTo>
                <a:cubicBezTo>
                  <a:pt x="17072" y="2152650"/>
                  <a:pt x="0" y="2135578"/>
                  <a:pt x="0" y="2114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FF03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158411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flip="none" rotWithShape="1">
            <a:gsLst>
              <a:gs pos="0">
                <a:srgbClr val="C0FF03"/>
              </a:gs>
              <a:gs pos="100000">
                <a:srgbClr val="A4DA1A"/>
              </a:gs>
            </a:gsLst>
            <a:lin ang="270000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704850" y="171746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4781" y="77391"/>
                </a:moveTo>
                <a:cubicBezTo>
                  <a:pt x="154781" y="94469"/>
                  <a:pt x="149237" y="110244"/>
                  <a:pt x="139898" y="123044"/>
                </a:cubicBezTo>
                <a:lnTo>
                  <a:pt x="187003" y="170185"/>
                </a:lnTo>
                <a:cubicBezTo>
                  <a:pt x="191653" y="174836"/>
                  <a:pt x="191653" y="182389"/>
                  <a:pt x="187003" y="187040"/>
                </a:cubicBezTo>
                <a:cubicBezTo>
                  <a:pt x="182352" y="191691"/>
                  <a:pt x="174799" y="191691"/>
                  <a:pt x="170148" y="187040"/>
                </a:cubicBezTo>
                <a:lnTo>
                  <a:pt x="123044" y="139898"/>
                </a:lnTo>
                <a:cubicBezTo>
                  <a:pt x="110244" y="149237"/>
                  <a:pt x="94469" y="154781"/>
                  <a:pt x="77391" y="154781"/>
                </a:cubicBezTo>
                <a:cubicBezTo>
                  <a:pt x="34640" y="154781"/>
                  <a:pt x="0" y="120142"/>
                  <a:pt x="0" y="77391"/>
                </a:cubicBezTo>
                <a:cubicBezTo>
                  <a:pt x="0" y="34640"/>
                  <a:pt x="34640" y="0"/>
                  <a:pt x="77391" y="0"/>
                </a:cubicBezTo>
                <a:cubicBezTo>
                  <a:pt x="120142" y="0"/>
                  <a:pt x="154781" y="34640"/>
                  <a:pt x="154781" y="77391"/>
                </a:cubicBezTo>
                <a:close/>
                <a:moveTo>
                  <a:pt x="78879" y="35719"/>
                </a:moveTo>
                <a:cubicBezTo>
                  <a:pt x="74786" y="35719"/>
                  <a:pt x="71438" y="39067"/>
                  <a:pt x="71438" y="43160"/>
                </a:cubicBezTo>
                <a:lnTo>
                  <a:pt x="71438" y="44648"/>
                </a:lnTo>
                <a:cubicBezTo>
                  <a:pt x="60722" y="44760"/>
                  <a:pt x="52090" y="53467"/>
                  <a:pt x="52090" y="64182"/>
                </a:cubicBezTo>
                <a:cubicBezTo>
                  <a:pt x="52090" y="73744"/>
                  <a:pt x="58973" y="81893"/>
                  <a:pt x="68424" y="83455"/>
                </a:cubicBezTo>
                <a:lnTo>
                  <a:pt x="83939" y="86060"/>
                </a:lnTo>
                <a:cubicBezTo>
                  <a:pt x="86171" y="86432"/>
                  <a:pt x="87809" y="88367"/>
                  <a:pt x="87809" y="90636"/>
                </a:cubicBezTo>
                <a:cubicBezTo>
                  <a:pt x="87809" y="93204"/>
                  <a:pt x="85725" y="95287"/>
                  <a:pt x="83158" y="95287"/>
                </a:cubicBezTo>
                <a:lnTo>
                  <a:pt x="62508" y="95250"/>
                </a:lnTo>
                <a:cubicBezTo>
                  <a:pt x="58415" y="95250"/>
                  <a:pt x="55066" y="98599"/>
                  <a:pt x="55066" y="102691"/>
                </a:cubicBezTo>
                <a:cubicBezTo>
                  <a:pt x="55066" y="106784"/>
                  <a:pt x="58415" y="110133"/>
                  <a:pt x="62508" y="110133"/>
                </a:cubicBezTo>
                <a:lnTo>
                  <a:pt x="71438" y="110133"/>
                </a:lnTo>
                <a:lnTo>
                  <a:pt x="71438" y="111621"/>
                </a:lnTo>
                <a:cubicBezTo>
                  <a:pt x="71438" y="115714"/>
                  <a:pt x="74786" y="119063"/>
                  <a:pt x="78879" y="119063"/>
                </a:cubicBezTo>
                <a:cubicBezTo>
                  <a:pt x="82972" y="119063"/>
                  <a:pt x="86320" y="115714"/>
                  <a:pt x="86320" y="111621"/>
                </a:cubicBezTo>
                <a:lnTo>
                  <a:pt x="86320" y="109872"/>
                </a:lnTo>
                <a:cubicBezTo>
                  <a:pt x="95622" y="108347"/>
                  <a:pt x="102691" y="100310"/>
                  <a:pt x="102691" y="90599"/>
                </a:cubicBezTo>
                <a:cubicBezTo>
                  <a:pt x="102691" y="81037"/>
                  <a:pt x="95808" y="72889"/>
                  <a:pt x="86358" y="71326"/>
                </a:cubicBezTo>
                <a:lnTo>
                  <a:pt x="70842" y="68721"/>
                </a:lnTo>
                <a:cubicBezTo>
                  <a:pt x="68610" y="68349"/>
                  <a:pt x="66973" y="66415"/>
                  <a:pt x="66973" y="64145"/>
                </a:cubicBezTo>
                <a:cubicBezTo>
                  <a:pt x="66973" y="61578"/>
                  <a:pt x="69056" y="59494"/>
                  <a:pt x="71624" y="59494"/>
                </a:cubicBezTo>
                <a:lnTo>
                  <a:pt x="89297" y="59494"/>
                </a:lnTo>
                <a:cubicBezTo>
                  <a:pt x="93390" y="59494"/>
                  <a:pt x="96738" y="56145"/>
                  <a:pt x="96738" y="52053"/>
                </a:cubicBezTo>
                <a:cubicBezTo>
                  <a:pt x="96738" y="47960"/>
                  <a:pt x="93390" y="44611"/>
                  <a:pt x="89297" y="44611"/>
                </a:cubicBezTo>
                <a:lnTo>
                  <a:pt x="86320" y="44611"/>
                </a:lnTo>
                <a:lnTo>
                  <a:pt x="86320" y="43123"/>
                </a:lnTo>
                <a:cubicBezTo>
                  <a:pt x="86320" y="39030"/>
                  <a:pt x="82972" y="35682"/>
                  <a:pt x="78879" y="3568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38238" y="1660315"/>
            <a:ext cx="31289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Глубокий аудит и Бизнес-модель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2193715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0FF0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>
              <a:solidFill>
                <a:srgbClr val="C0FF03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728514" y="2155615"/>
            <a:ext cx="4143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Вскрываем «дыры» в текущих операционных процессах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" y="2517565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0FF0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>
              <a:solidFill>
                <a:srgbClr val="C0FF03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728514" y="2479465"/>
            <a:ext cx="428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Оцифровываем воронки продаж и пользовательский путь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" y="2841415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0FF0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>
              <a:solidFill>
                <a:srgbClr val="C0FF03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728514" y="2803315"/>
            <a:ext cx="507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Переводим продукт из «гаражного MVP» в масштабируемую систему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1250" y="1431715"/>
            <a:ext cx="5619750" cy="2152650"/>
          </a:xfrm>
          <a:custGeom>
            <a:avLst/>
            <a:gdLst/>
            <a:ahLst/>
            <a:cxnLst/>
            <a:rect l="l" t="t" r="r" b="b"/>
            <a:pathLst>
              <a:path w="5619750" h="2152650">
                <a:moveTo>
                  <a:pt x="38100" y="0"/>
                </a:moveTo>
                <a:lnTo>
                  <a:pt x="5505444" y="0"/>
                </a:lnTo>
                <a:cubicBezTo>
                  <a:pt x="5568574" y="0"/>
                  <a:pt x="5619750" y="51176"/>
                  <a:pt x="5619750" y="114306"/>
                </a:cubicBezTo>
                <a:lnTo>
                  <a:pt x="5619750" y="2038344"/>
                </a:lnTo>
                <a:cubicBezTo>
                  <a:pt x="5619750" y="2101474"/>
                  <a:pt x="5568574" y="2152650"/>
                  <a:pt x="5505444" y="2152650"/>
                </a:cubicBezTo>
                <a:lnTo>
                  <a:pt x="38100" y="2152650"/>
                </a:lnTo>
                <a:cubicBezTo>
                  <a:pt x="17072" y="2152650"/>
                  <a:pt x="0" y="2135578"/>
                  <a:pt x="0" y="2114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2626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91250" y="1431715"/>
            <a:ext cx="38100" cy="2152650"/>
          </a:xfrm>
          <a:custGeom>
            <a:avLst/>
            <a:gdLst/>
            <a:ahLst/>
            <a:cxnLst/>
            <a:rect l="l" t="t" r="r" b="b"/>
            <a:pathLst>
              <a:path w="38100" h="2152650">
                <a:moveTo>
                  <a:pt x="38100" y="0"/>
                </a:moveTo>
                <a:lnTo>
                  <a:pt x="38100" y="0"/>
                </a:lnTo>
                <a:lnTo>
                  <a:pt x="38100" y="2152650"/>
                </a:lnTo>
                <a:lnTo>
                  <a:pt x="38100" y="2152650"/>
                </a:lnTo>
                <a:cubicBezTo>
                  <a:pt x="17072" y="2152650"/>
                  <a:pt x="0" y="2135578"/>
                  <a:pt x="0" y="2114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FF03"/>
          </a:solidFill>
          <a:ln/>
        </p:spPr>
      </p:sp>
      <p:sp>
        <p:nvSpPr>
          <p:cNvPr id="19" name="Shape 17"/>
          <p:cNvSpPr/>
          <p:nvPr/>
        </p:nvSpPr>
        <p:spPr>
          <a:xfrm>
            <a:off x="6362700" y="158411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flip="none" rotWithShape="1">
            <a:gsLst>
              <a:gs pos="0">
                <a:srgbClr val="C0FF03"/>
              </a:gs>
              <a:gs pos="100000">
                <a:srgbClr val="A4DA1A"/>
              </a:gs>
            </a:gsLst>
            <a:lin ang="2700000" scaled="1"/>
          </a:gradFill>
          <a:ln/>
        </p:spPr>
      </p:sp>
      <p:sp>
        <p:nvSpPr>
          <p:cNvPr id="20" name="Shape 18"/>
          <p:cNvSpPr/>
          <p:nvPr/>
        </p:nvSpPr>
        <p:spPr>
          <a:xfrm>
            <a:off x="6472238" y="171746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950943" y="1688890"/>
            <a:ext cx="354791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Интеграция ИИ и Автоматизация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62700" y="2269915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0FF0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>
              <a:solidFill>
                <a:srgbClr val="C0FF03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6519714" y="2231815"/>
            <a:ext cx="4467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Внедряем индивидуальных ИИ-агентов в рабочие процессы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62700" y="2593765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0FF0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>
              <a:solidFill>
                <a:srgbClr val="C0FF03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6519714" y="2555665"/>
            <a:ext cx="478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Смарт-боты для квалификации лидов и автоматизации саппорта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62700" y="287951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0FF0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endParaRPr lang="en-US" sz="1600" dirty="0">
              <a:solidFill>
                <a:srgbClr val="C0FF03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6591300" y="2879515"/>
            <a:ext cx="2276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0FF0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Экономия до 40 часов в месяц</a:t>
            </a:r>
            <a:endParaRPr lang="en-US" sz="1600" dirty="0">
              <a:solidFill>
                <a:srgbClr val="C0FF03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6362700" y="3203365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0FF0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>
              <a:solidFill>
                <a:srgbClr val="C0FF03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6519714" y="3165265"/>
            <a:ext cx="396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Трекинг задач и CRM-архитектура без сложного кода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00050" y="3736765"/>
            <a:ext cx="5619750" cy="1866900"/>
          </a:xfrm>
          <a:custGeom>
            <a:avLst/>
            <a:gdLst/>
            <a:ahLst/>
            <a:cxnLst/>
            <a:rect l="l" t="t" r="r" b="b"/>
            <a:pathLst>
              <a:path w="5619750" h="1866900">
                <a:moveTo>
                  <a:pt x="38100" y="0"/>
                </a:moveTo>
                <a:lnTo>
                  <a:pt x="5505458" y="0"/>
                </a:lnTo>
                <a:cubicBezTo>
                  <a:pt x="5568580" y="0"/>
                  <a:pt x="5619750" y="51170"/>
                  <a:pt x="5619750" y="114292"/>
                </a:cubicBezTo>
                <a:lnTo>
                  <a:pt x="5619750" y="1752608"/>
                </a:lnTo>
                <a:cubicBezTo>
                  <a:pt x="5619750" y="1815730"/>
                  <a:pt x="5568580" y="1866900"/>
                  <a:pt x="5505458" y="1866900"/>
                </a:cubicBezTo>
                <a:lnTo>
                  <a:pt x="38100" y="1866900"/>
                </a:lnTo>
                <a:cubicBezTo>
                  <a:pt x="17072" y="1866900"/>
                  <a:pt x="0" y="1849828"/>
                  <a:pt x="0" y="1828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2626"/>
          </a:solidFill>
          <a:ln/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Z" dirty="0"/>
          </a:p>
        </p:txBody>
      </p:sp>
      <p:sp>
        <p:nvSpPr>
          <p:cNvPr id="33" name="Shape 31"/>
          <p:cNvSpPr/>
          <p:nvPr/>
        </p:nvSpPr>
        <p:spPr>
          <a:xfrm>
            <a:off x="400050" y="3736765"/>
            <a:ext cx="38100" cy="1866900"/>
          </a:xfrm>
          <a:custGeom>
            <a:avLst/>
            <a:gdLst/>
            <a:ahLst/>
            <a:cxnLst/>
            <a:rect l="l" t="t" r="r" b="b"/>
            <a:pathLst>
              <a:path w="38100" h="1866900">
                <a:moveTo>
                  <a:pt x="38100" y="0"/>
                </a:moveTo>
                <a:lnTo>
                  <a:pt x="38100" y="0"/>
                </a:lnTo>
                <a:lnTo>
                  <a:pt x="38100" y="1866900"/>
                </a:lnTo>
                <a:lnTo>
                  <a:pt x="38100" y="1866900"/>
                </a:lnTo>
                <a:cubicBezTo>
                  <a:pt x="17072" y="1866900"/>
                  <a:pt x="0" y="1849828"/>
                  <a:pt x="0" y="1828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FF03"/>
          </a:solidFill>
          <a:ln/>
        </p:spPr>
      </p:sp>
      <p:sp>
        <p:nvSpPr>
          <p:cNvPr id="34" name="Shape 32"/>
          <p:cNvSpPr/>
          <p:nvPr/>
        </p:nvSpPr>
        <p:spPr>
          <a:xfrm>
            <a:off x="571500" y="38891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flip="none" rotWithShape="1">
            <a:gsLst>
              <a:gs pos="0">
                <a:srgbClr val="C0FF03"/>
              </a:gs>
              <a:gs pos="100000">
                <a:srgbClr val="A4DA1A"/>
              </a:gs>
            </a:gsLst>
            <a:lin ang="2700000" scaled="1"/>
          </a:gradFill>
          <a:ln/>
        </p:spPr>
      </p:sp>
      <p:sp>
        <p:nvSpPr>
          <p:cNvPr id="35" name="Shape 33"/>
          <p:cNvSpPr/>
          <p:nvPr/>
        </p:nvSpPr>
        <p:spPr>
          <a:xfrm>
            <a:off x="704850" y="402251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1143000" y="3981604"/>
            <a:ext cx="2314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Юнит-экономика и Финансы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71500" y="4498765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0FF0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>
              <a:solidFill>
                <a:srgbClr val="C0FF03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728514" y="4460665"/>
            <a:ext cx="358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Убиваем фантазии: считаем реальный </a:t>
            </a:r>
            <a:r>
              <a:rPr lang="en-US" sz="1200" b="1" dirty="0">
                <a:solidFill>
                  <a:srgbClr val="C0FF0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</a:t>
            </a: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и </a:t>
            </a:r>
            <a:r>
              <a:rPr lang="en-US" sz="1200" b="1" dirty="0">
                <a:solidFill>
                  <a:srgbClr val="C0FF0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LTV</a:t>
            </a:r>
            <a:endParaRPr lang="en-US" sz="1600" dirty="0">
              <a:solidFill>
                <a:srgbClr val="C0FF03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571500" y="4822615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0FF0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>
              <a:solidFill>
                <a:srgbClr val="C0FF03"/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728514" y="4784515"/>
            <a:ext cx="4486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Прозрачные финансовые модели (UZS/USD) и расчет </a:t>
            </a:r>
            <a:r>
              <a:rPr lang="en-US" sz="1200" b="1" dirty="0">
                <a:solidFill>
                  <a:srgbClr val="C0FF0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Runway</a:t>
            </a:r>
            <a:endParaRPr lang="en-US" sz="1600" dirty="0">
              <a:solidFill>
                <a:srgbClr val="C0FF03"/>
              </a:solidFill>
            </a:endParaRPr>
          </a:p>
        </p:txBody>
      </p:sp>
      <p:sp>
        <p:nvSpPr>
          <p:cNvPr id="42" name="Text 40"/>
          <p:cNvSpPr/>
          <p:nvPr/>
        </p:nvSpPr>
        <p:spPr>
          <a:xfrm>
            <a:off x="571500" y="5146465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0FF0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>
              <a:solidFill>
                <a:srgbClr val="C0FF03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728514" y="5108365"/>
            <a:ext cx="3209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Выводим стартап на точку безубыточности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91250" y="3736765"/>
            <a:ext cx="5619750" cy="1866900"/>
          </a:xfrm>
          <a:custGeom>
            <a:avLst/>
            <a:gdLst/>
            <a:ahLst/>
            <a:cxnLst/>
            <a:rect l="l" t="t" r="r" b="b"/>
            <a:pathLst>
              <a:path w="5619750" h="1866900">
                <a:moveTo>
                  <a:pt x="38100" y="0"/>
                </a:moveTo>
                <a:lnTo>
                  <a:pt x="5505458" y="0"/>
                </a:lnTo>
                <a:cubicBezTo>
                  <a:pt x="5568580" y="0"/>
                  <a:pt x="5619750" y="51170"/>
                  <a:pt x="5619750" y="114292"/>
                </a:cubicBezTo>
                <a:lnTo>
                  <a:pt x="5619750" y="1752608"/>
                </a:lnTo>
                <a:cubicBezTo>
                  <a:pt x="5619750" y="1815730"/>
                  <a:pt x="5568580" y="1866900"/>
                  <a:pt x="5505458" y="1866900"/>
                </a:cubicBezTo>
                <a:lnTo>
                  <a:pt x="38100" y="1866900"/>
                </a:lnTo>
                <a:cubicBezTo>
                  <a:pt x="17072" y="1866900"/>
                  <a:pt x="0" y="1849828"/>
                  <a:pt x="0" y="1828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  <a:effectLst>
            <a:outerShdw blurRad="238125" dist="1905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91250" y="3736765"/>
            <a:ext cx="38100" cy="1866900"/>
          </a:xfrm>
          <a:custGeom>
            <a:avLst/>
            <a:gdLst/>
            <a:ahLst/>
            <a:cxnLst/>
            <a:rect l="l" t="t" r="r" b="b"/>
            <a:pathLst>
              <a:path w="38100" h="1866900">
                <a:moveTo>
                  <a:pt x="38100" y="0"/>
                </a:moveTo>
                <a:lnTo>
                  <a:pt x="38100" y="0"/>
                </a:lnTo>
                <a:lnTo>
                  <a:pt x="38100" y="1866900"/>
                </a:lnTo>
                <a:lnTo>
                  <a:pt x="38100" y="1866900"/>
                </a:lnTo>
                <a:cubicBezTo>
                  <a:pt x="17072" y="1866900"/>
                  <a:pt x="0" y="1849828"/>
                  <a:pt x="0" y="1828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FF03"/>
          </a:solidFill>
          <a:ln/>
        </p:spPr>
      </p:sp>
      <p:sp>
        <p:nvSpPr>
          <p:cNvPr id="46" name="Shape 44"/>
          <p:cNvSpPr/>
          <p:nvPr/>
        </p:nvSpPr>
        <p:spPr>
          <a:xfrm>
            <a:off x="6362700" y="388916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gradFill flip="none" rotWithShape="1">
            <a:gsLst>
              <a:gs pos="0">
                <a:srgbClr val="C0FF03"/>
              </a:gs>
              <a:gs pos="100000">
                <a:srgbClr val="A4DA1A"/>
              </a:gs>
            </a:gsLst>
            <a:lin ang="2700000" scaled="1"/>
          </a:gradFill>
          <a:ln/>
        </p:spPr>
      </p:sp>
      <p:sp>
        <p:nvSpPr>
          <p:cNvPr id="47" name="Shape 45"/>
          <p:cNvSpPr/>
          <p:nvPr/>
        </p:nvSpPr>
        <p:spPr>
          <a:xfrm>
            <a:off x="6484144" y="402251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0050" y="31700"/>
                </a:moveTo>
                <a:lnTo>
                  <a:pt x="56666" y="79921"/>
                </a:lnTo>
                <a:cubicBezTo>
                  <a:pt x="54955" y="81818"/>
                  <a:pt x="55029" y="84758"/>
                  <a:pt x="56852" y="86581"/>
                </a:cubicBezTo>
                <a:cubicBezTo>
                  <a:pt x="68200" y="97929"/>
                  <a:pt x="86618" y="97929"/>
                  <a:pt x="97966" y="86581"/>
                </a:cubicBezTo>
                <a:lnTo>
                  <a:pt x="109798" y="74749"/>
                </a:lnTo>
                <a:cubicBezTo>
                  <a:pt x="111361" y="73186"/>
                  <a:pt x="113333" y="72330"/>
                  <a:pt x="115342" y="72182"/>
                </a:cubicBezTo>
                <a:cubicBezTo>
                  <a:pt x="117872" y="71958"/>
                  <a:pt x="120476" y="72814"/>
                  <a:pt x="122411" y="74749"/>
                </a:cubicBezTo>
                <a:lnTo>
                  <a:pt x="188119" y="139898"/>
                </a:lnTo>
                <a:lnTo>
                  <a:pt x="214313" y="119063"/>
                </a:lnTo>
                <a:lnTo>
                  <a:pt x="214313" y="11906"/>
                </a:lnTo>
                <a:lnTo>
                  <a:pt x="172641" y="35719"/>
                </a:lnTo>
                <a:lnTo>
                  <a:pt x="163785" y="29803"/>
                </a:lnTo>
                <a:cubicBezTo>
                  <a:pt x="157907" y="25896"/>
                  <a:pt x="151023" y="23812"/>
                  <a:pt x="143954" y="23812"/>
                </a:cubicBezTo>
                <a:lnTo>
                  <a:pt x="117760" y="23812"/>
                </a:lnTo>
                <a:cubicBezTo>
                  <a:pt x="117351" y="23812"/>
                  <a:pt x="116904" y="23812"/>
                  <a:pt x="116495" y="23850"/>
                </a:cubicBezTo>
                <a:cubicBezTo>
                  <a:pt x="110207" y="24185"/>
                  <a:pt x="104291" y="27012"/>
                  <a:pt x="100050" y="31700"/>
                </a:cubicBezTo>
                <a:close/>
                <a:moveTo>
                  <a:pt x="43383" y="67977"/>
                </a:moveTo>
                <a:lnTo>
                  <a:pt x="83121" y="23812"/>
                </a:lnTo>
                <a:lnTo>
                  <a:pt x="68387" y="23812"/>
                </a:lnTo>
                <a:cubicBezTo>
                  <a:pt x="58899" y="23812"/>
                  <a:pt x="49820" y="27570"/>
                  <a:pt x="43123" y="34268"/>
                </a:cubicBezTo>
                <a:lnTo>
                  <a:pt x="41672" y="35719"/>
                </a:lnTo>
                <a:lnTo>
                  <a:pt x="0" y="11906"/>
                </a:lnTo>
                <a:lnTo>
                  <a:pt x="0" y="119063"/>
                </a:lnTo>
                <a:lnTo>
                  <a:pt x="58192" y="167543"/>
                </a:lnTo>
                <a:cubicBezTo>
                  <a:pt x="66749" y="174687"/>
                  <a:pt x="77539" y="178594"/>
                  <a:pt x="88664" y="178594"/>
                </a:cubicBezTo>
                <a:lnTo>
                  <a:pt x="94506" y="178594"/>
                </a:lnTo>
                <a:lnTo>
                  <a:pt x="91901" y="175989"/>
                </a:lnTo>
                <a:cubicBezTo>
                  <a:pt x="88404" y="172492"/>
                  <a:pt x="88404" y="166836"/>
                  <a:pt x="91901" y="163376"/>
                </a:cubicBezTo>
                <a:cubicBezTo>
                  <a:pt x="95399" y="159916"/>
                  <a:pt x="101054" y="159879"/>
                  <a:pt x="104515" y="163376"/>
                </a:cubicBezTo>
                <a:lnTo>
                  <a:pt x="119769" y="178631"/>
                </a:lnTo>
                <a:lnTo>
                  <a:pt x="123118" y="178631"/>
                </a:lnTo>
                <a:cubicBezTo>
                  <a:pt x="130225" y="178631"/>
                  <a:pt x="137182" y="177031"/>
                  <a:pt x="143508" y="174054"/>
                </a:cubicBezTo>
                <a:lnTo>
                  <a:pt x="133573" y="164083"/>
                </a:lnTo>
                <a:cubicBezTo>
                  <a:pt x="130076" y="160586"/>
                  <a:pt x="130076" y="154930"/>
                  <a:pt x="133573" y="151470"/>
                </a:cubicBezTo>
                <a:cubicBezTo>
                  <a:pt x="137071" y="148010"/>
                  <a:pt x="142726" y="147972"/>
                  <a:pt x="146186" y="151470"/>
                </a:cubicBezTo>
                <a:lnTo>
                  <a:pt x="158093" y="163376"/>
                </a:lnTo>
                <a:lnTo>
                  <a:pt x="164604" y="156865"/>
                </a:lnTo>
                <a:cubicBezTo>
                  <a:pt x="167915" y="153553"/>
                  <a:pt x="168883" y="148754"/>
                  <a:pt x="167432" y="144549"/>
                </a:cubicBezTo>
                <a:lnTo>
                  <a:pt x="116123" y="93650"/>
                </a:lnTo>
                <a:lnTo>
                  <a:pt x="110579" y="99194"/>
                </a:lnTo>
                <a:cubicBezTo>
                  <a:pt x="92236" y="117537"/>
                  <a:pt x="62545" y="117537"/>
                  <a:pt x="44202" y="99194"/>
                </a:cubicBezTo>
                <a:cubicBezTo>
                  <a:pt x="35644" y="90636"/>
                  <a:pt x="35309" y="76907"/>
                  <a:pt x="43383" y="6794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6941344" y="3980199"/>
            <a:ext cx="2143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Инвестиционная упаковка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362700" y="4574965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0FF0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>
              <a:solidFill>
                <a:srgbClr val="C0FF03"/>
              </a:solidFill>
            </a:endParaRPr>
          </a:p>
        </p:txBody>
      </p:sp>
      <p:sp>
        <p:nvSpPr>
          <p:cNvPr id="52" name="Text 50"/>
          <p:cNvSpPr/>
          <p:nvPr/>
        </p:nvSpPr>
        <p:spPr>
          <a:xfrm>
            <a:off x="6519714" y="4536865"/>
            <a:ext cx="4371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Эталонный </a:t>
            </a:r>
            <a:r>
              <a:rPr lang="en-US" sz="1200" b="1" dirty="0">
                <a:solidFill>
                  <a:srgbClr val="C0FF0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Pitch Deck</a:t>
            </a:r>
            <a:r>
              <a:rPr lang="en-US" sz="1200" dirty="0">
                <a:solidFill>
                  <a:srgbClr val="C0FF0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только цифры и логика, без «воды»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362700" y="4898815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0FF0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>
              <a:solidFill>
                <a:srgbClr val="C0FF03"/>
              </a:solidFill>
            </a:endParaRPr>
          </a:p>
        </p:txBody>
      </p:sp>
      <p:sp>
        <p:nvSpPr>
          <p:cNvPr id="54" name="Text 52"/>
          <p:cNvSpPr/>
          <p:nvPr/>
        </p:nvSpPr>
        <p:spPr>
          <a:xfrm>
            <a:off x="6519714" y="4860715"/>
            <a:ext cx="3209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Жесткая контент- и go-to-market стратегия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362700" y="5222665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0FF0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endParaRPr lang="en-US" sz="1600" dirty="0">
              <a:solidFill>
                <a:srgbClr val="C0FF03"/>
              </a:solidFill>
            </a:endParaRPr>
          </a:p>
        </p:txBody>
      </p:sp>
      <p:sp>
        <p:nvSpPr>
          <p:cNvPr id="56" name="Text 54"/>
          <p:cNvSpPr/>
          <p:nvPr/>
        </p:nvSpPr>
        <p:spPr>
          <a:xfrm>
            <a:off x="6519714" y="5184565"/>
            <a:ext cx="4429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Подготовка к Pitch Nights и встречам с венчурными фондами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377825" y="5804940"/>
            <a:ext cx="11410950" cy="781050"/>
          </a:xfrm>
          <a:custGeom>
            <a:avLst/>
            <a:gdLst/>
            <a:ahLst/>
            <a:cxnLst/>
            <a:rect l="l" t="t" r="r" b="b"/>
            <a:pathLst>
              <a:path w="11410950" h="781050">
                <a:moveTo>
                  <a:pt x="114299" y="0"/>
                </a:moveTo>
                <a:lnTo>
                  <a:pt x="11296651" y="0"/>
                </a:lnTo>
                <a:cubicBezTo>
                  <a:pt x="11359777" y="0"/>
                  <a:pt x="11410950" y="51173"/>
                  <a:pt x="11410950" y="114299"/>
                </a:cubicBezTo>
                <a:lnTo>
                  <a:pt x="11410950" y="666751"/>
                </a:lnTo>
                <a:cubicBezTo>
                  <a:pt x="11410950" y="729877"/>
                  <a:pt x="11359777" y="781050"/>
                  <a:pt x="11296651" y="781050"/>
                </a:cubicBezTo>
                <a:lnTo>
                  <a:pt x="114299" y="781050"/>
                </a:lnTo>
                <a:cubicBezTo>
                  <a:pt x="51173" y="781050"/>
                  <a:pt x="0" y="729877"/>
                  <a:pt x="0" y="6667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1A1A1A">
              <a:alpha val="67476"/>
            </a:srgbClr>
          </a:solidFill>
          <a:ln w="25400">
            <a:solidFill>
              <a:srgbClr val="C0FF03"/>
            </a:solidFill>
            <a:prstDash val="solid"/>
          </a:ln>
          <a:effectLst>
            <a:outerShdw blurRad="476250" dist="238125" dir="5400000" algn="bl" rotWithShape="0">
              <a:srgbClr val="000000">
                <a:alpha val="25098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1533525" y="5883326"/>
            <a:ext cx="912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kern="0" spc="6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Результат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320490" y="6166890"/>
            <a:ext cx="955102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Стартап получает статус </a:t>
            </a:r>
            <a:r>
              <a:rPr lang="en-US" sz="1500" b="1" dirty="0">
                <a:solidFill>
                  <a:srgbClr val="C0FF0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"Investment Ready" </a:t>
            </a: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 попадает в наш закрытый </a:t>
            </a:r>
            <a:r>
              <a:rPr lang="en-US" sz="1500" b="1" dirty="0">
                <a:solidFill>
                  <a:srgbClr val="C0FF0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Deal Flow </a:t>
            </a: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для передачи фондам</a:t>
            </a:r>
            <a:endParaRPr lang="en-US" sz="1600" dirty="0"/>
          </a:p>
        </p:txBody>
      </p:sp>
      <p:sp>
        <p:nvSpPr>
          <p:cNvPr id="60" name="Text 0">
            <a:extLst>
              <a:ext uri="{FF2B5EF4-FFF2-40B4-BE49-F238E27FC236}">
                <a16:creationId xmlns:a16="http://schemas.microsoft.com/office/drawing/2014/main" id="{86EC0A93-4AF8-11BF-174F-D57C1AB33921}"/>
              </a:ext>
            </a:extLst>
          </p:cNvPr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/ РЕШЕНИЕ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2289" y="200025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/ ВАШ ROI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92289" y="504825"/>
            <a:ext cx="11601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Почему вам выгодно стать нашей Штаб-квартирой (HQ)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2289" y="1143000"/>
            <a:ext cx="5638800" cy="2286000"/>
          </a:xfrm>
          <a:custGeom>
            <a:avLst/>
            <a:gdLst/>
            <a:ahLst/>
            <a:cxnLst/>
            <a:rect l="l" t="t" r="r" b="b"/>
            <a:pathLst>
              <a:path w="5638800" h="2286000">
                <a:moveTo>
                  <a:pt x="0" y="0"/>
                </a:moveTo>
                <a:lnTo>
                  <a:pt x="5638800" y="0"/>
                </a:lnTo>
                <a:lnTo>
                  <a:pt x="5638800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" name="Shape 3"/>
          <p:cNvSpPr/>
          <p:nvPr/>
        </p:nvSpPr>
        <p:spPr>
          <a:xfrm>
            <a:off x="392289" y="1143000"/>
            <a:ext cx="5638800" cy="38100"/>
          </a:xfrm>
          <a:custGeom>
            <a:avLst/>
            <a:gdLst/>
            <a:ahLst/>
            <a:cxnLst/>
            <a:rect l="l" t="t" r="r" b="b"/>
            <a:pathLst>
              <a:path w="5638800" h="38100">
                <a:moveTo>
                  <a:pt x="0" y="0"/>
                </a:moveTo>
                <a:lnTo>
                  <a:pt x="5638800" y="0"/>
                </a:lnTo>
                <a:lnTo>
                  <a:pt x="5638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6" name="Shape 4"/>
          <p:cNvSpPr/>
          <p:nvPr/>
        </p:nvSpPr>
        <p:spPr>
          <a:xfrm>
            <a:off x="582789" y="13525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7" name="Shape 5"/>
          <p:cNvSpPr/>
          <p:nvPr/>
        </p:nvSpPr>
        <p:spPr>
          <a:xfrm>
            <a:off x="692327" y="14859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1154289" y="1447800"/>
            <a:ext cx="160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Генерация Лидов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2789" y="1924050"/>
            <a:ext cx="53340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Стартапы, которые проходят нашу Founder OS и поднимают раунды </a:t>
            </a:r>
            <a:r>
              <a:rPr lang="en-US" sz="1200" b="1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$50k-$100k</a:t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становятся вашими </a:t>
            </a: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якорными арендаторами</a:t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Private-офисов.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2314" y="2781300"/>
            <a:ext cx="5248275" cy="457200"/>
          </a:xfrm>
          <a:custGeom>
            <a:avLst/>
            <a:gdLst/>
            <a:ahLst/>
            <a:cxnLst/>
            <a:rect l="l" t="t" r="r" b="b"/>
            <a:pathLst>
              <a:path w="5248275" h="457200">
                <a:moveTo>
                  <a:pt x="0" y="0"/>
                </a:moveTo>
                <a:lnTo>
                  <a:pt x="5248275" y="0"/>
                </a:lnTo>
                <a:lnTo>
                  <a:pt x="524827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11" name="Shape 9"/>
          <p:cNvSpPr/>
          <p:nvPr/>
        </p:nvSpPr>
        <p:spPr>
          <a:xfrm>
            <a:off x="592314" y="2781300"/>
            <a:ext cx="19050" cy="457200"/>
          </a:xfrm>
          <a:custGeom>
            <a:avLst/>
            <a:gdLst/>
            <a:ahLst/>
            <a:cxnLst/>
            <a:rect l="l" t="t" r="r" b="b"/>
            <a:pathLst>
              <a:path w="19050" h="457200">
                <a:moveTo>
                  <a:pt x="0" y="0"/>
                </a:moveTo>
                <a:lnTo>
                  <a:pt x="19050" y="0"/>
                </a:lnTo>
                <a:lnTo>
                  <a:pt x="190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12" name="Shape 10"/>
          <p:cNvSpPr/>
          <p:nvPr/>
        </p:nvSpPr>
        <p:spPr>
          <a:xfrm>
            <a:off x="735189" y="292893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13" name="Text 11"/>
          <p:cNvSpPr/>
          <p:nvPr/>
        </p:nvSpPr>
        <p:spPr>
          <a:xfrm>
            <a:off x="963789" y="2895600"/>
            <a:ext cx="483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Мы направляем их к вам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83489" y="1143000"/>
            <a:ext cx="5638800" cy="2286000"/>
          </a:xfrm>
          <a:custGeom>
            <a:avLst/>
            <a:gdLst/>
            <a:ahLst/>
            <a:cxnLst/>
            <a:rect l="l" t="t" r="r" b="b"/>
            <a:pathLst>
              <a:path w="5638800" h="2286000">
                <a:moveTo>
                  <a:pt x="0" y="0"/>
                </a:moveTo>
                <a:lnTo>
                  <a:pt x="5638800" y="0"/>
                </a:lnTo>
                <a:lnTo>
                  <a:pt x="5638800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5" name="Shape 13"/>
          <p:cNvSpPr/>
          <p:nvPr/>
        </p:nvSpPr>
        <p:spPr>
          <a:xfrm>
            <a:off x="6183489" y="1143000"/>
            <a:ext cx="5638800" cy="38100"/>
          </a:xfrm>
          <a:custGeom>
            <a:avLst/>
            <a:gdLst/>
            <a:ahLst/>
            <a:cxnLst/>
            <a:rect l="l" t="t" r="r" b="b"/>
            <a:pathLst>
              <a:path w="5638800" h="38100">
                <a:moveTo>
                  <a:pt x="0" y="0"/>
                </a:moveTo>
                <a:lnTo>
                  <a:pt x="5638800" y="0"/>
                </a:lnTo>
                <a:lnTo>
                  <a:pt x="5638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16" name="Shape 14"/>
          <p:cNvSpPr/>
          <p:nvPr/>
        </p:nvSpPr>
        <p:spPr>
          <a:xfrm>
            <a:off x="6373989" y="13525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17" name="Shape 15"/>
          <p:cNvSpPr/>
          <p:nvPr/>
        </p:nvSpPr>
        <p:spPr>
          <a:xfrm>
            <a:off x="6507339" y="14859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1599" y="7032"/>
                </a:moveTo>
                <a:cubicBezTo>
                  <a:pt x="175878" y="8930"/>
                  <a:pt x="178594" y="13171"/>
                  <a:pt x="178594" y="17859"/>
                </a:cubicBezTo>
                <a:lnTo>
                  <a:pt x="178594" y="172641"/>
                </a:lnTo>
                <a:cubicBezTo>
                  <a:pt x="178594" y="177329"/>
                  <a:pt x="175878" y="181570"/>
                  <a:pt x="171599" y="183468"/>
                </a:cubicBezTo>
                <a:cubicBezTo>
                  <a:pt x="167320" y="185365"/>
                  <a:pt x="162371" y="184658"/>
                  <a:pt x="158837" y="181570"/>
                </a:cubicBezTo>
                <a:lnTo>
                  <a:pt x="141498" y="166427"/>
                </a:lnTo>
                <a:cubicBezTo>
                  <a:pt x="125276" y="152251"/>
                  <a:pt x="104775" y="143991"/>
                  <a:pt x="83307" y="142987"/>
                </a:cubicBezTo>
                <a:lnTo>
                  <a:pt x="83307" y="178594"/>
                </a:lnTo>
                <a:cubicBezTo>
                  <a:pt x="83307" y="185179"/>
                  <a:pt x="77986" y="190500"/>
                  <a:pt x="71400" y="190500"/>
                </a:cubicBezTo>
                <a:lnTo>
                  <a:pt x="59494" y="190500"/>
                </a:lnTo>
                <a:cubicBezTo>
                  <a:pt x="52908" y="190500"/>
                  <a:pt x="47588" y="185179"/>
                  <a:pt x="47588" y="178594"/>
                </a:cubicBezTo>
                <a:lnTo>
                  <a:pt x="47588" y="142875"/>
                </a:lnTo>
                <a:cubicBezTo>
                  <a:pt x="21320" y="142875"/>
                  <a:pt x="0" y="121555"/>
                  <a:pt x="0" y="95250"/>
                </a:cubicBezTo>
                <a:cubicBezTo>
                  <a:pt x="0" y="68945"/>
                  <a:pt x="21320" y="47625"/>
                  <a:pt x="47625" y="47625"/>
                </a:cubicBezTo>
                <a:lnTo>
                  <a:pt x="79065" y="47625"/>
                </a:lnTo>
                <a:cubicBezTo>
                  <a:pt x="102059" y="47551"/>
                  <a:pt x="124234" y="39179"/>
                  <a:pt x="141536" y="24073"/>
                </a:cubicBezTo>
                <a:lnTo>
                  <a:pt x="158874" y="8930"/>
                </a:lnTo>
                <a:cubicBezTo>
                  <a:pt x="162371" y="5842"/>
                  <a:pt x="167394" y="5135"/>
                  <a:pt x="171636" y="7032"/>
                </a:cubicBezTo>
                <a:close/>
                <a:moveTo>
                  <a:pt x="83344" y="119063"/>
                </a:moveTo>
                <a:lnTo>
                  <a:pt x="83344" y="119137"/>
                </a:lnTo>
                <a:cubicBezTo>
                  <a:pt x="109500" y="120142"/>
                  <a:pt x="134615" y="129741"/>
                  <a:pt x="154781" y="146447"/>
                </a:cubicBezTo>
                <a:lnTo>
                  <a:pt x="154781" y="44016"/>
                </a:lnTo>
                <a:cubicBezTo>
                  <a:pt x="134615" y="60722"/>
                  <a:pt x="109500" y="70321"/>
                  <a:pt x="83344" y="71326"/>
                </a:cubicBezTo>
                <a:lnTo>
                  <a:pt x="83344" y="119063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6945489" y="1447800"/>
            <a:ext cx="1533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Агрессивный PR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73989" y="1924050"/>
            <a:ext cx="53340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Все форматы </a:t>
            </a: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«Founder Reality»</a:t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подкасты </a:t>
            </a: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«VC Talks»</a:t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с инвесторами и интервью будут сниматься </a:t>
            </a:r>
            <a:r>
              <a:rPr lang="en-US" sz="1200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на вашей локации</a:t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83514" y="2781300"/>
            <a:ext cx="5248275" cy="457200"/>
          </a:xfrm>
          <a:custGeom>
            <a:avLst/>
            <a:gdLst/>
            <a:ahLst/>
            <a:cxnLst/>
            <a:rect l="l" t="t" r="r" b="b"/>
            <a:pathLst>
              <a:path w="5248275" h="457200">
                <a:moveTo>
                  <a:pt x="0" y="0"/>
                </a:moveTo>
                <a:lnTo>
                  <a:pt x="5248275" y="0"/>
                </a:lnTo>
                <a:lnTo>
                  <a:pt x="524827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21" name="Shape 19"/>
          <p:cNvSpPr/>
          <p:nvPr/>
        </p:nvSpPr>
        <p:spPr>
          <a:xfrm>
            <a:off x="6383514" y="2781300"/>
            <a:ext cx="19050" cy="457200"/>
          </a:xfrm>
          <a:custGeom>
            <a:avLst/>
            <a:gdLst/>
            <a:ahLst/>
            <a:cxnLst/>
            <a:rect l="l" t="t" r="r" b="b"/>
            <a:pathLst>
              <a:path w="19050" h="457200">
                <a:moveTo>
                  <a:pt x="0" y="0"/>
                </a:moveTo>
                <a:lnTo>
                  <a:pt x="19050" y="0"/>
                </a:lnTo>
                <a:lnTo>
                  <a:pt x="190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22" name="Shape 20"/>
          <p:cNvSpPr/>
          <p:nvPr/>
        </p:nvSpPr>
        <p:spPr>
          <a:xfrm>
            <a:off x="6526389" y="292893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23" name="Text 21"/>
          <p:cNvSpPr/>
          <p:nvPr/>
        </p:nvSpPr>
        <p:spPr>
          <a:xfrm>
            <a:off x="6754989" y="2895600"/>
            <a:ext cx="483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Нативный охват на всю IT-аудиторию страны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92289" y="3600450"/>
            <a:ext cx="5638800" cy="2038350"/>
          </a:xfrm>
          <a:custGeom>
            <a:avLst/>
            <a:gdLst/>
            <a:ahLst/>
            <a:cxnLst/>
            <a:rect l="l" t="t" r="r" b="b"/>
            <a:pathLst>
              <a:path w="5638800" h="2038350">
                <a:moveTo>
                  <a:pt x="0" y="0"/>
                </a:moveTo>
                <a:lnTo>
                  <a:pt x="5638800" y="0"/>
                </a:lnTo>
                <a:lnTo>
                  <a:pt x="5638800" y="2038350"/>
                </a:lnTo>
                <a:lnTo>
                  <a:pt x="0" y="2038350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25" name="Shape 23"/>
          <p:cNvSpPr/>
          <p:nvPr/>
        </p:nvSpPr>
        <p:spPr>
          <a:xfrm>
            <a:off x="392289" y="3600450"/>
            <a:ext cx="5638800" cy="38100"/>
          </a:xfrm>
          <a:custGeom>
            <a:avLst/>
            <a:gdLst/>
            <a:ahLst/>
            <a:cxnLst/>
            <a:rect l="l" t="t" r="r" b="b"/>
            <a:pathLst>
              <a:path w="5638800" h="38100">
                <a:moveTo>
                  <a:pt x="0" y="0"/>
                </a:moveTo>
                <a:lnTo>
                  <a:pt x="5638800" y="0"/>
                </a:lnTo>
                <a:lnTo>
                  <a:pt x="5638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26" name="Shape 24"/>
          <p:cNvSpPr/>
          <p:nvPr/>
        </p:nvSpPr>
        <p:spPr>
          <a:xfrm>
            <a:off x="582789" y="3810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27" name="Shape 25"/>
          <p:cNvSpPr/>
          <p:nvPr/>
        </p:nvSpPr>
        <p:spPr>
          <a:xfrm>
            <a:off x="716139" y="39433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9669" y="32407"/>
                </a:moveTo>
                <a:lnTo>
                  <a:pt x="95250" y="40109"/>
                </a:lnTo>
                <a:lnTo>
                  <a:pt x="100831" y="32407"/>
                </a:lnTo>
                <a:cubicBezTo>
                  <a:pt x="110133" y="19534"/>
                  <a:pt x="125090" y="11906"/>
                  <a:pt x="140977" y="11906"/>
                </a:cubicBezTo>
                <a:cubicBezTo>
                  <a:pt x="168325" y="11906"/>
                  <a:pt x="190500" y="34082"/>
                  <a:pt x="190500" y="61429"/>
                </a:cubicBezTo>
                <a:lnTo>
                  <a:pt x="190500" y="62396"/>
                </a:lnTo>
                <a:cubicBezTo>
                  <a:pt x="190500" y="104142"/>
                  <a:pt x="138447" y="152623"/>
                  <a:pt x="111286" y="173348"/>
                </a:cubicBezTo>
                <a:cubicBezTo>
                  <a:pt x="106673" y="176845"/>
                  <a:pt x="101017" y="178594"/>
                  <a:pt x="95250" y="178594"/>
                </a:cubicBezTo>
                <a:cubicBezTo>
                  <a:pt x="89483" y="178594"/>
                  <a:pt x="83790" y="176882"/>
                  <a:pt x="79214" y="173348"/>
                </a:cubicBezTo>
                <a:cubicBezTo>
                  <a:pt x="52053" y="152623"/>
                  <a:pt x="0" y="104142"/>
                  <a:pt x="0" y="62396"/>
                </a:cubicBezTo>
                <a:lnTo>
                  <a:pt x="0" y="61429"/>
                </a:lnTo>
                <a:cubicBezTo>
                  <a:pt x="0" y="34082"/>
                  <a:pt x="22175" y="11906"/>
                  <a:pt x="49523" y="11906"/>
                </a:cubicBezTo>
                <a:cubicBezTo>
                  <a:pt x="65410" y="11906"/>
                  <a:pt x="80367" y="19534"/>
                  <a:pt x="89669" y="32407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28" name="Text 26"/>
          <p:cNvSpPr/>
          <p:nvPr/>
        </p:nvSpPr>
        <p:spPr>
          <a:xfrm>
            <a:off x="1154289" y="3905250"/>
            <a:ext cx="1971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Retention Резидентов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82789" y="4381500"/>
            <a:ext cx="5334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Действующие резиденты получают </a:t>
            </a:r>
            <a:r>
              <a:rPr lang="en-US" sz="1200" b="1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бесплатный доступ</a:t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к ядру Founder OS (шаблоны, AI-боты, консультации).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92314" y="4991100"/>
            <a:ext cx="5248275" cy="457200"/>
          </a:xfrm>
          <a:custGeom>
            <a:avLst/>
            <a:gdLst/>
            <a:ahLst/>
            <a:cxnLst/>
            <a:rect l="l" t="t" r="r" b="b"/>
            <a:pathLst>
              <a:path w="5248275" h="457200">
                <a:moveTo>
                  <a:pt x="0" y="0"/>
                </a:moveTo>
                <a:lnTo>
                  <a:pt x="5248275" y="0"/>
                </a:lnTo>
                <a:lnTo>
                  <a:pt x="524827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31" name="Shape 29"/>
          <p:cNvSpPr/>
          <p:nvPr/>
        </p:nvSpPr>
        <p:spPr>
          <a:xfrm>
            <a:off x="592314" y="4991100"/>
            <a:ext cx="19050" cy="457200"/>
          </a:xfrm>
          <a:custGeom>
            <a:avLst/>
            <a:gdLst/>
            <a:ahLst/>
            <a:cxnLst/>
            <a:rect l="l" t="t" r="r" b="b"/>
            <a:pathLst>
              <a:path w="19050" h="457200">
                <a:moveTo>
                  <a:pt x="0" y="0"/>
                </a:moveTo>
                <a:lnTo>
                  <a:pt x="19050" y="0"/>
                </a:lnTo>
                <a:lnTo>
                  <a:pt x="190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32" name="Shape 30"/>
          <p:cNvSpPr/>
          <p:nvPr/>
        </p:nvSpPr>
        <p:spPr>
          <a:xfrm>
            <a:off x="735189" y="513873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33" name="Text 31"/>
          <p:cNvSpPr/>
          <p:nvPr/>
        </p:nvSpPr>
        <p:spPr>
          <a:xfrm>
            <a:off x="963789" y="5105400"/>
            <a:ext cx="483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Мощный аргумент для отдела продаж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83489" y="3600450"/>
            <a:ext cx="5638800" cy="2038350"/>
          </a:xfrm>
          <a:custGeom>
            <a:avLst/>
            <a:gdLst/>
            <a:ahLst/>
            <a:cxnLst/>
            <a:rect l="l" t="t" r="r" b="b"/>
            <a:pathLst>
              <a:path w="5638800" h="2038350">
                <a:moveTo>
                  <a:pt x="0" y="0"/>
                </a:moveTo>
                <a:lnTo>
                  <a:pt x="5638800" y="0"/>
                </a:lnTo>
                <a:lnTo>
                  <a:pt x="5638800" y="2038350"/>
                </a:lnTo>
                <a:lnTo>
                  <a:pt x="0" y="2038350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35" name="Shape 33"/>
          <p:cNvSpPr/>
          <p:nvPr/>
        </p:nvSpPr>
        <p:spPr>
          <a:xfrm>
            <a:off x="6183489" y="3600450"/>
            <a:ext cx="5638800" cy="38100"/>
          </a:xfrm>
          <a:custGeom>
            <a:avLst/>
            <a:gdLst/>
            <a:ahLst/>
            <a:cxnLst/>
            <a:rect l="l" t="t" r="r" b="b"/>
            <a:pathLst>
              <a:path w="5638800" h="38100">
                <a:moveTo>
                  <a:pt x="0" y="0"/>
                </a:moveTo>
                <a:lnTo>
                  <a:pt x="5638800" y="0"/>
                </a:lnTo>
                <a:lnTo>
                  <a:pt x="5638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36" name="Shape 34"/>
          <p:cNvSpPr/>
          <p:nvPr/>
        </p:nvSpPr>
        <p:spPr>
          <a:xfrm>
            <a:off x="6373989" y="3810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37" name="Shape 35"/>
          <p:cNvSpPr/>
          <p:nvPr/>
        </p:nvSpPr>
        <p:spPr>
          <a:xfrm>
            <a:off x="6495433" y="39433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0050" y="31700"/>
                </a:moveTo>
                <a:lnTo>
                  <a:pt x="56666" y="79921"/>
                </a:lnTo>
                <a:cubicBezTo>
                  <a:pt x="54955" y="81818"/>
                  <a:pt x="55029" y="84758"/>
                  <a:pt x="56852" y="86581"/>
                </a:cubicBezTo>
                <a:cubicBezTo>
                  <a:pt x="68200" y="97929"/>
                  <a:pt x="86618" y="97929"/>
                  <a:pt x="97966" y="86581"/>
                </a:cubicBezTo>
                <a:lnTo>
                  <a:pt x="109798" y="74749"/>
                </a:lnTo>
                <a:cubicBezTo>
                  <a:pt x="111361" y="73186"/>
                  <a:pt x="113333" y="72330"/>
                  <a:pt x="115342" y="72182"/>
                </a:cubicBezTo>
                <a:cubicBezTo>
                  <a:pt x="117872" y="71958"/>
                  <a:pt x="120476" y="72814"/>
                  <a:pt x="122411" y="74749"/>
                </a:cubicBezTo>
                <a:lnTo>
                  <a:pt x="188119" y="139898"/>
                </a:lnTo>
                <a:lnTo>
                  <a:pt x="214313" y="119063"/>
                </a:lnTo>
                <a:lnTo>
                  <a:pt x="214313" y="11906"/>
                </a:lnTo>
                <a:lnTo>
                  <a:pt x="172641" y="35719"/>
                </a:lnTo>
                <a:lnTo>
                  <a:pt x="163785" y="29803"/>
                </a:lnTo>
                <a:cubicBezTo>
                  <a:pt x="157907" y="25896"/>
                  <a:pt x="151023" y="23812"/>
                  <a:pt x="143954" y="23812"/>
                </a:cubicBezTo>
                <a:lnTo>
                  <a:pt x="117760" y="23812"/>
                </a:lnTo>
                <a:cubicBezTo>
                  <a:pt x="117351" y="23812"/>
                  <a:pt x="116904" y="23812"/>
                  <a:pt x="116495" y="23850"/>
                </a:cubicBezTo>
                <a:cubicBezTo>
                  <a:pt x="110207" y="24185"/>
                  <a:pt x="104291" y="27012"/>
                  <a:pt x="100050" y="31700"/>
                </a:cubicBezTo>
                <a:close/>
                <a:moveTo>
                  <a:pt x="43383" y="67977"/>
                </a:moveTo>
                <a:lnTo>
                  <a:pt x="83121" y="23812"/>
                </a:lnTo>
                <a:lnTo>
                  <a:pt x="68387" y="23812"/>
                </a:lnTo>
                <a:cubicBezTo>
                  <a:pt x="58899" y="23812"/>
                  <a:pt x="49820" y="27570"/>
                  <a:pt x="43123" y="34268"/>
                </a:cubicBezTo>
                <a:lnTo>
                  <a:pt x="41672" y="35719"/>
                </a:lnTo>
                <a:lnTo>
                  <a:pt x="0" y="11906"/>
                </a:lnTo>
                <a:lnTo>
                  <a:pt x="0" y="119063"/>
                </a:lnTo>
                <a:lnTo>
                  <a:pt x="58192" y="167543"/>
                </a:lnTo>
                <a:cubicBezTo>
                  <a:pt x="66749" y="174687"/>
                  <a:pt x="77539" y="178594"/>
                  <a:pt x="88664" y="178594"/>
                </a:cubicBezTo>
                <a:lnTo>
                  <a:pt x="94506" y="178594"/>
                </a:lnTo>
                <a:lnTo>
                  <a:pt x="91901" y="175989"/>
                </a:lnTo>
                <a:cubicBezTo>
                  <a:pt x="88404" y="172492"/>
                  <a:pt x="88404" y="166836"/>
                  <a:pt x="91901" y="163376"/>
                </a:cubicBezTo>
                <a:cubicBezTo>
                  <a:pt x="95399" y="159916"/>
                  <a:pt x="101054" y="159879"/>
                  <a:pt x="104515" y="163376"/>
                </a:cubicBezTo>
                <a:lnTo>
                  <a:pt x="119769" y="178631"/>
                </a:lnTo>
                <a:lnTo>
                  <a:pt x="123118" y="178631"/>
                </a:lnTo>
                <a:cubicBezTo>
                  <a:pt x="130225" y="178631"/>
                  <a:pt x="137182" y="177031"/>
                  <a:pt x="143508" y="174054"/>
                </a:cubicBezTo>
                <a:lnTo>
                  <a:pt x="133573" y="164083"/>
                </a:lnTo>
                <a:cubicBezTo>
                  <a:pt x="130076" y="160586"/>
                  <a:pt x="130076" y="154930"/>
                  <a:pt x="133573" y="151470"/>
                </a:cubicBezTo>
                <a:cubicBezTo>
                  <a:pt x="137071" y="148010"/>
                  <a:pt x="142726" y="147972"/>
                  <a:pt x="146186" y="151470"/>
                </a:cubicBezTo>
                <a:lnTo>
                  <a:pt x="158093" y="163376"/>
                </a:lnTo>
                <a:lnTo>
                  <a:pt x="164604" y="156865"/>
                </a:lnTo>
                <a:cubicBezTo>
                  <a:pt x="167915" y="153553"/>
                  <a:pt x="168883" y="148754"/>
                  <a:pt x="167432" y="144549"/>
                </a:cubicBezTo>
                <a:lnTo>
                  <a:pt x="116123" y="93650"/>
                </a:lnTo>
                <a:lnTo>
                  <a:pt x="110579" y="99194"/>
                </a:lnTo>
                <a:cubicBezTo>
                  <a:pt x="92236" y="117537"/>
                  <a:pt x="62545" y="117537"/>
                  <a:pt x="44202" y="99194"/>
                </a:cubicBezTo>
                <a:cubicBezTo>
                  <a:pt x="35644" y="90636"/>
                  <a:pt x="35309" y="76907"/>
                  <a:pt x="43383" y="67940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38" name="Text 36"/>
          <p:cNvSpPr/>
          <p:nvPr/>
        </p:nvSpPr>
        <p:spPr>
          <a:xfrm>
            <a:off x="6945489" y="3905250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Доступ к Капиталу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73989" y="4381500"/>
            <a:ext cx="5334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Мы приводим на вашу площадку </a:t>
            </a: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топ-инвесторов</a:t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бизнес-ангелов и руководителей фондов в рамках наших закрытых </a:t>
            </a:r>
            <a:r>
              <a:rPr lang="en-US" sz="1200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Industry Dinners</a:t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83514" y="4991100"/>
            <a:ext cx="5248275" cy="457200"/>
          </a:xfrm>
          <a:custGeom>
            <a:avLst/>
            <a:gdLst/>
            <a:ahLst/>
            <a:cxnLst/>
            <a:rect l="l" t="t" r="r" b="b"/>
            <a:pathLst>
              <a:path w="5248275" h="457200">
                <a:moveTo>
                  <a:pt x="0" y="0"/>
                </a:moveTo>
                <a:lnTo>
                  <a:pt x="5248275" y="0"/>
                </a:lnTo>
                <a:lnTo>
                  <a:pt x="524827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41" name="Shape 39"/>
          <p:cNvSpPr/>
          <p:nvPr/>
        </p:nvSpPr>
        <p:spPr>
          <a:xfrm>
            <a:off x="6383514" y="4991100"/>
            <a:ext cx="19050" cy="457200"/>
          </a:xfrm>
          <a:custGeom>
            <a:avLst/>
            <a:gdLst/>
            <a:ahLst/>
            <a:cxnLst/>
            <a:rect l="l" t="t" r="r" b="b"/>
            <a:pathLst>
              <a:path w="19050" h="457200">
                <a:moveTo>
                  <a:pt x="0" y="0"/>
                </a:moveTo>
                <a:lnTo>
                  <a:pt x="19050" y="0"/>
                </a:lnTo>
                <a:lnTo>
                  <a:pt x="190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42" name="Shape 40"/>
          <p:cNvSpPr/>
          <p:nvPr/>
        </p:nvSpPr>
        <p:spPr>
          <a:xfrm>
            <a:off x="6526389" y="513873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43" name="Text 41"/>
          <p:cNvSpPr/>
          <p:nvPr/>
        </p:nvSpPr>
        <p:spPr>
          <a:xfrm>
            <a:off x="6754989" y="5105400"/>
            <a:ext cx="483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Прямой контакт с ключевыми игроками рынка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92289" y="5791200"/>
            <a:ext cx="11430000" cy="876300"/>
          </a:xfrm>
          <a:custGeom>
            <a:avLst/>
            <a:gdLst/>
            <a:ahLst/>
            <a:cxnLst/>
            <a:rect l="l" t="t" r="r" b="b"/>
            <a:pathLst>
              <a:path w="11430000" h="876300">
                <a:moveTo>
                  <a:pt x="0" y="0"/>
                </a:moveTo>
                <a:lnTo>
                  <a:pt x="11430000" y="0"/>
                </a:lnTo>
                <a:lnTo>
                  <a:pt x="1143000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45" name="Shape 43"/>
          <p:cNvSpPr/>
          <p:nvPr/>
        </p:nvSpPr>
        <p:spPr>
          <a:xfrm>
            <a:off x="582789" y="60864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80535" y="0"/>
                </a:moveTo>
                <a:lnTo>
                  <a:pt x="205550" y="0"/>
                </a:lnTo>
                <a:cubicBezTo>
                  <a:pt x="220340" y="0"/>
                  <a:pt x="232395" y="12167"/>
                  <a:pt x="231837" y="26901"/>
                </a:cubicBezTo>
                <a:cubicBezTo>
                  <a:pt x="231725" y="29859"/>
                  <a:pt x="231614" y="32817"/>
                  <a:pt x="231446" y="35719"/>
                </a:cubicBezTo>
                <a:lnTo>
                  <a:pt x="259128" y="35719"/>
                </a:lnTo>
                <a:cubicBezTo>
                  <a:pt x="273695" y="35719"/>
                  <a:pt x="286531" y="47774"/>
                  <a:pt x="285415" y="63512"/>
                </a:cubicBezTo>
                <a:cubicBezTo>
                  <a:pt x="281229" y="121388"/>
                  <a:pt x="251650" y="153200"/>
                  <a:pt x="219559" y="169831"/>
                </a:cubicBezTo>
                <a:cubicBezTo>
                  <a:pt x="210741" y="174408"/>
                  <a:pt x="201755" y="177812"/>
                  <a:pt x="193216" y="180324"/>
                </a:cubicBezTo>
                <a:cubicBezTo>
                  <a:pt x="181942" y="196286"/>
                  <a:pt x="170222" y="204713"/>
                  <a:pt x="160902" y="209234"/>
                </a:cubicBezTo>
                <a:lnTo>
                  <a:pt x="160902" y="250031"/>
                </a:lnTo>
                <a:lnTo>
                  <a:pt x="196621" y="250031"/>
                </a:lnTo>
                <a:cubicBezTo>
                  <a:pt x="206499" y="250031"/>
                  <a:pt x="214480" y="258012"/>
                  <a:pt x="214480" y="267891"/>
                </a:cubicBezTo>
                <a:cubicBezTo>
                  <a:pt x="214480" y="277769"/>
                  <a:pt x="206499" y="285750"/>
                  <a:pt x="196621" y="285750"/>
                </a:cubicBezTo>
                <a:lnTo>
                  <a:pt x="89464" y="285750"/>
                </a:lnTo>
                <a:cubicBezTo>
                  <a:pt x="79586" y="285750"/>
                  <a:pt x="71605" y="277769"/>
                  <a:pt x="71605" y="267891"/>
                </a:cubicBezTo>
                <a:cubicBezTo>
                  <a:pt x="71605" y="258012"/>
                  <a:pt x="79586" y="250031"/>
                  <a:pt x="89464" y="250031"/>
                </a:cubicBezTo>
                <a:lnTo>
                  <a:pt x="125183" y="250031"/>
                </a:lnTo>
                <a:lnTo>
                  <a:pt x="125183" y="209234"/>
                </a:lnTo>
                <a:cubicBezTo>
                  <a:pt x="116253" y="204936"/>
                  <a:pt x="105147" y="196955"/>
                  <a:pt x="94320" y="182277"/>
                </a:cubicBezTo>
                <a:cubicBezTo>
                  <a:pt x="84051" y="179598"/>
                  <a:pt x="72889" y="175524"/>
                  <a:pt x="62006" y="169385"/>
                </a:cubicBezTo>
                <a:cubicBezTo>
                  <a:pt x="31812" y="152474"/>
                  <a:pt x="4576" y="120607"/>
                  <a:pt x="670" y="63401"/>
                </a:cubicBezTo>
                <a:cubicBezTo>
                  <a:pt x="-391" y="47718"/>
                  <a:pt x="12390" y="35663"/>
                  <a:pt x="26956" y="35663"/>
                </a:cubicBezTo>
                <a:lnTo>
                  <a:pt x="54639" y="35663"/>
                </a:lnTo>
                <a:cubicBezTo>
                  <a:pt x="54471" y="32761"/>
                  <a:pt x="54359" y="29859"/>
                  <a:pt x="54248" y="26845"/>
                </a:cubicBezTo>
                <a:cubicBezTo>
                  <a:pt x="53690" y="12055"/>
                  <a:pt x="65745" y="-56"/>
                  <a:pt x="80535" y="-56"/>
                </a:cubicBezTo>
                <a:close/>
                <a:moveTo>
                  <a:pt x="56648" y="62508"/>
                </a:moveTo>
                <a:lnTo>
                  <a:pt x="27403" y="62508"/>
                </a:lnTo>
                <a:cubicBezTo>
                  <a:pt x="30863" y="109779"/>
                  <a:pt x="52574" y="133443"/>
                  <a:pt x="74954" y="146000"/>
                </a:cubicBezTo>
                <a:cubicBezTo>
                  <a:pt x="66917" y="125183"/>
                  <a:pt x="60275" y="98003"/>
                  <a:pt x="56648" y="62508"/>
                </a:cubicBezTo>
                <a:close/>
                <a:moveTo>
                  <a:pt x="212080" y="143321"/>
                </a:moveTo>
                <a:cubicBezTo>
                  <a:pt x="234683" y="130039"/>
                  <a:pt x="255110" y="106431"/>
                  <a:pt x="258570" y="62508"/>
                </a:cubicBezTo>
                <a:lnTo>
                  <a:pt x="229381" y="62508"/>
                </a:lnTo>
                <a:cubicBezTo>
                  <a:pt x="225921" y="96496"/>
                  <a:pt x="219670" y="122895"/>
                  <a:pt x="212080" y="143321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46" name="Text 44"/>
          <p:cNvSpPr/>
          <p:nvPr/>
        </p:nvSpPr>
        <p:spPr>
          <a:xfrm>
            <a:off x="1054277" y="5981700"/>
            <a:ext cx="4305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Результат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54277" y="6248400"/>
            <a:ext cx="428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Вы становитесь главной точкой сборки венчурного рынка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059792" y="5943600"/>
            <a:ext cx="1609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в 1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126467" y="6286500"/>
            <a:ext cx="154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1A1A1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источника ценности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985b73710700ac144b1ea6f65aa2d8d92169628d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10819" b="10819"/>
          <a:stretch/>
        </p:blipFill>
        <p:spPr>
          <a:xfrm>
            <a:off x="0" y="0"/>
            <a:ext cx="12192000" cy="6859136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-1" y="0"/>
            <a:ext cx="12192000" cy="6859136"/>
          </a:xfrm>
          <a:custGeom>
            <a:avLst/>
            <a:gdLst/>
            <a:ahLst/>
            <a:cxnLst/>
            <a:rect l="l" t="t" r="r" b="b"/>
            <a:pathLst>
              <a:path w="12192000" h="6859136">
                <a:moveTo>
                  <a:pt x="0" y="0"/>
                </a:moveTo>
                <a:lnTo>
                  <a:pt x="12192000" y="0"/>
                </a:lnTo>
                <a:lnTo>
                  <a:pt x="12192000" y="6859136"/>
                </a:lnTo>
                <a:lnTo>
                  <a:pt x="0" y="685913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A1A">
                  <a:alpha val="95000"/>
                </a:srgbClr>
              </a:gs>
              <a:gs pos="100000">
                <a:srgbClr val="1A1A1A">
                  <a:alpha val="90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63398" y="137621"/>
            <a:ext cx="11537884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kern="0" spc="114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/ МОДЕЛЬ ПАРТНЕРСТВА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63398" y="428339"/>
            <a:ext cx="11628733" cy="408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5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Win-Win Интеграция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3398" y="909841"/>
            <a:ext cx="11556054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1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Бартерная основа на 6-12 месяцев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568" y="1345919"/>
            <a:ext cx="6750116" cy="1162873"/>
          </a:xfrm>
          <a:custGeom>
            <a:avLst/>
            <a:gdLst/>
            <a:ahLst/>
            <a:cxnLst/>
            <a:rect l="l" t="t" r="r" b="b"/>
            <a:pathLst>
              <a:path w="6750116" h="1162873">
                <a:moveTo>
                  <a:pt x="0" y="0"/>
                </a:moveTo>
                <a:lnTo>
                  <a:pt x="6750116" y="0"/>
                </a:lnTo>
                <a:lnTo>
                  <a:pt x="6750116" y="1162873"/>
                </a:lnTo>
                <a:lnTo>
                  <a:pt x="0" y="1162873"/>
                </a:lnTo>
                <a:lnTo>
                  <a:pt x="0" y="0"/>
                </a:lnTo>
                <a:close/>
              </a:path>
            </a:pathLst>
          </a:custGeom>
          <a:solidFill>
            <a:srgbClr val="262626">
              <a:alpha val="90196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81568" y="1345919"/>
            <a:ext cx="36340" cy="1162873"/>
          </a:xfrm>
          <a:custGeom>
            <a:avLst/>
            <a:gdLst/>
            <a:ahLst/>
            <a:cxnLst/>
            <a:rect l="l" t="t" r="r" b="b"/>
            <a:pathLst>
              <a:path w="36340" h="1162873">
                <a:moveTo>
                  <a:pt x="0" y="0"/>
                </a:moveTo>
                <a:lnTo>
                  <a:pt x="36340" y="0"/>
                </a:lnTo>
                <a:lnTo>
                  <a:pt x="36340" y="1162873"/>
                </a:lnTo>
                <a:lnTo>
                  <a:pt x="0" y="1162873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9" name="Shape 6"/>
          <p:cNvSpPr/>
          <p:nvPr/>
        </p:nvSpPr>
        <p:spPr>
          <a:xfrm>
            <a:off x="581437" y="1527618"/>
            <a:ext cx="436077" cy="436077"/>
          </a:xfrm>
          <a:custGeom>
            <a:avLst/>
            <a:gdLst/>
            <a:ahLst/>
            <a:cxnLst/>
            <a:rect l="l" t="t" r="r" b="b"/>
            <a:pathLst>
              <a:path w="436077" h="436077">
                <a:moveTo>
                  <a:pt x="0" y="0"/>
                </a:moveTo>
                <a:lnTo>
                  <a:pt x="436077" y="0"/>
                </a:lnTo>
                <a:lnTo>
                  <a:pt x="436077" y="436077"/>
                </a:lnTo>
                <a:lnTo>
                  <a:pt x="0" y="436077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10" name="Text 7"/>
          <p:cNvSpPr/>
          <p:nvPr/>
        </p:nvSpPr>
        <p:spPr>
          <a:xfrm>
            <a:off x="705148" y="1618467"/>
            <a:ext cx="281633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1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62873" y="1527618"/>
            <a:ext cx="5868876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Безлимитный доступ к рабочей зоне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62873" y="1854676"/>
            <a:ext cx="5859791" cy="472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Для </a:t>
            </a:r>
            <a:r>
              <a:rPr lang="en-US" sz="114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фаундеров</a:t>
            </a:r>
            <a:r>
              <a:rPr lang="en-US" sz="114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проекта — Акмаля и Нуриддина. Полноценное рабочее место с инфраструктурой.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81568" y="2654151"/>
            <a:ext cx="6750116" cy="1162873"/>
          </a:xfrm>
          <a:custGeom>
            <a:avLst/>
            <a:gdLst/>
            <a:ahLst/>
            <a:cxnLst/>
            <a:rect l="l" t="t" r="r" b="b"/>
            <a:pathLst>
              <a:path w="6750116" h="1162873">
                <a:moveTo>
                  <a:pt x="0" y="0"/>
                </a:moveTo>
                <a:lnTo>
                  <a:pt x="6750116" y="0"/>
                </a:lnTo>
                <a:lnTo>
                  <a:pt x="6750116" y="1162873"/>
                </a:lnTo>
                <a:lnTo>
                  <a:pt x="0" y="1162873"/>
                </a:lnTo>
                <a:lnTo>
                  <a:pt x="0" y="0"/>
                </a:lnTo>
                <a:close/>
              </a:path>
            </a:pathLst>
          </a:custGeom>
          <a:solidFill>
            <a:srgbClr val="262626">
              <a:alpha val="90196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381568" y="2654151"/>
            <a:ext cx="36340" cy="1162873"/>
          </a:xfrm>
          <a:custGeom>
            <a:avLst/>
            <a:gdLst/>
            <a:ahLst/>
            <a:cxnLst/>
            <a:rect l="l" t="t" r="r" b="b"/>
            <a:pathLst>
              <a:path w="36340" h="1162873">
                <a:moveTo>
                  <a:pt x="0" y="0"/>
                </a:moveTo>
                <a:lnTo>
                  <a:pt x="36340" y="0"/>
                </a:lnTo>
                <a:lnTo>
                  <a:pt x="36340" y="1162873"/>
                </a:lnTo>
                <a:lnTo>
                  <a:pt x="0" y="1162873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15" name="Shape 12"/>
          <p:cNvSpPr/>
          <p:nvPr/>
        </p:nvSpPr>
        <p:spPr>
          <a:xfrm>
            <a:off x="581437" y="2835850"/>
            <a:ext cx="436077" cy="436077"/>
          </a:xfrm>
          <a:custGeom>
            <a:avLst/>
            <a:gdLst/>
            <a:ahLst/>
            <a:cxnLst/>
            <a:rect l="l" t="t" r="r" b="b"/>
            <a:pathLst>
              <a:path w="436077" h="436077">
                <a:moveTo>
                  <a:pt x="0" y="0"/>
                </a:moveTo>
                <a:lnTo>
                  <a:pt x="436077" y="0"/>
                </a:lnTo>
                <a:lnTo>
                  <a:pt x="436077" y="436077"/>
                </a:lnTo>
                <a:lnTo>
                  <a:pt x="0" y="436077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16" name="Text 13"/>
          <p:cNvSpPr/>
          <p:nvPr/>
        </p:nvSpPr>
        <p:spPr>
          <a:xfrm>
            <a:off x="688682" y="2926700"/>
            <a:ext cx="308888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1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62873" y="2835850"/>
            <a:ext cx="5868876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Доступ к переговорным комнатам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162873" y="3162909"/>
            <a:ext cx="5859791" cy="472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Для съемок подкастов и встреч со стартапами </a:t>
            </a:r>
            <a:r>
              <a:rPr lang="en-US" sz="1145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(по букингу)</a:t>
            </a:r>
            <a:r>
              <a:rPr lang="en-US" sz="114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Профессиональное пространство для контента.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81568" y="3962384"/>
            <a:ext cx="6750116" cy="1162873"/>
          </a:xfrm>
          <a:custGeom>
            <a:avLst/>
            <a:gdLst/>
            <a:ahLst/>
            <a:cxnLst/>
            <a:rect l="l" t="t" r="r" b="b"/>
            <a:pathLst>
              <a:path w="6750116" h="1162873">
                <a:moveTo>
                  <a:pt x="0" y="0"/>
                </a:moveTo>
                <a:lnTo>
                  <a:pt x="6750116" y="0"/>
                </a:lnTo>
                <a:lnTo>
                  <a:pt x="6750116" y="1162873"/>
                </a:lnTo>
                <a:lnTo>
                  <a:pt x="0" y="1162873"/>
                </a:lnTo>
                <a:lnTo>
                  <a:pt x="0" y="0"/>
                </a:lnTo>
                <a:close/>
              </a:path>
            </a:pathLst>
          </a:custGeom>
          <a:solidFill>
            <a:srgbClr val="262626">
              <a:alpha val="90196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381568" y="3962384"/>
            <a:ext cx="36340" cy="1162873"/>
          </a:xfrm>
          <a:custGeom>
            <a:avLst/>
            <a:gdLst/>
            <a:ahLst/>
            <a:cxnLst/>
            <a:rect l="l" t="t" r="r" b="b"/>
            <a:pathLst>
              <a:path w="36340" h="1162873">
                <a:moveTo>
                  <a:pt x="0" y="0"/>
                </a:moveTo>
                <a:lnTo>
                  <a:pt x="36340" y="0"/>
                </a:lnTo>
                <a:lnTo>
                  <a:pt x="36340" y="1162873"/>
                </a:lnTo>
                <a:lnTo>
                  <a:pt x="0" y="1162873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21" name="Shape 18"/>
          <p:cNvSpPr/>
          <p:nvPr/>
        </p:nvSpPr>
        <p:spPr>
          <a:xfrm>
            <a:off x="581437" y="4144083"/>
            <a:ext cx="436077" cy="436077"/>
          </a:xfrm>
          <a:custGeom>
            <a:avLst/>
            <a:gdLst/>
            <a:ahLst/>
            <a:cxnLst/>
            <a:rect l="l" t="t" r="r" b="b"/>
            <a:pathLst>
              <a:path w="436077" h="436077">
                <a:moveTo>
                  <a:pt x="0" y="0"/>
                </a:moveTo>
                <a:lnTo>
                  <a:pt x="436077" y="0"/>
                </a:lnTo>
                <a:lnTo>
                  <a:pt x="436077" y="436077"/>
                </a:lnTo>
                <a:lnTo>
                  <a:pt x="0" y="436077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22" name="Text 19"/>
          <p:cNvSpPr/>
          <p:nvPr/>
        </p:nvSpPr>
        <p:spPr>
          <a:xfrm>
            <a:off x="687901" y="4234932"/>
            <a:ext cx="317973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1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162873" y="4144083"/>
            <a:ext cx="5868876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Доступ к ивент-зоне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162873" y="4471141"/>
            <a:ext cx="5859791" cy="472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1-2 раза в месяц</a:t>
            </a:r>
            <a:r>
              <a:rPr lang="en-US" sz="114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для проведения закрытых митапов с фаундерами и инвесторами (Industry Nights) и Pitch Nights.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316364" y="1345919"/>
            <a:ext cx="4515219" cy="3125222"/>
          </a:xfrm>
          <a:custGeom>
            <a:avLst/>
            <a:gdLst/>
            <a:ahLst/>
            <a:cxnLst/>
            <a:rect l="l" t="t" r="r" b="b"/>
            <a:pathLst>
              <a:path w="4515219" h="3125222">
                <a:moveTo>
                  <a:pt x="0" y="0"/>
                </a:moveTo>
                <a:lnTo>
                  <a:pt x="4515219" y="0"/>
                </a:lnTo>
                <a:lnTo>
                  <a:pt x="4515219" y="3125222"/>
                </a:lnTo>
                <a:lnTo>
                  <a:pt x="0" y="3125222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26" name="Shape 23"/>
          <p:cNvSpPr/>
          <p:nvPr/>
        </p:nvSpPr>
        <p:spPr>
          <a:xfrm>
            <a:off x="9355438" y="1563958"/>
            <a:ext cx="436077" cy="436077"/>
          </a:xfrm>
          <a:custGeom>
            <a:avLst/>
            <a:gdLst/>
            <a:ahLst/>
            <a:cxnLst/>
            <a:rect l="l" t="t" r="r" b="b"/>
            <a:pathLst>
              <a:path w="436077" h="436077">
                <a:moveTo>
                  <a:pt x="428071" y="128268"/>
                </a:moveTo>
                <a:lnTo>
                  <a:pt x="346307" y="210033"/>
                </a:lnTo>
                <a:cubicBezTo>
                  <a:pt x="338471" y="217868"/>
                  <a:pt x="326803" y="220168"/>
                  <a:pt x="316582" y="215909"/>
                </a:cubicBezTo>
                <a:cubicBezTo>
                  <a:pt x="306361" y="211651"/>
                  <a:pt x="299803" y="201771"/>
                  <a:pt x="299803" y="190784"/>
                </a:cubicBezTo>
                <a:lnTo>
                  <a:pt x="299803" y="136274"/>
                </a:lnTo>
                <a:lnTo>
                  <a:pt x="27255" y="136274"/>
                </a:lnTo>
                <a:cubicBezTo>
                  <a:pt x="12180" y="136274"/>
                  <a:pt x="0" y="124095"/>
                  <a:pt x="0" y="109019"/>
                </a:cubicBezTo>
                <a:cubicBezTo>
                  <a:pt x="0" y="93944"/>
                  <a:pt x="12180" y="81765"/>
                  <a:pt x="27255" y="81765"/>
                </a:cubicBezTo>
                <a:lnTo>
                  <a:pt x="299803" y="81765"/>
                </a:lnTo>
                <a:lnTo>
                  <a:pt x="299803" y="27255"/>
                </a:lnTo>
                <a:cubicBezTo>
                  <a:pt x="299803" y="16268"/>
                  <a:pt x="306447" y="6303"/>
                  <a:pt x="316667" y="2044"/>
                </a:cubicBezTo>
                <a:cubicBezTo>
                  <a:pt x="326888" y="-2214"/>
                  <a:pt x="338556" y="170"/>
                  <a:pt x="346392" y="7921"/>
                </a:cubicBezTo>
                <a:lnTo>
                  <a:pt x="428157" y="89685"/>
                </a:lnTo>
                <a:cubicBezTo>
                  <a:pt x="438803" y="100332"/>
                  <a:pt x="438803" y="117622"/>
                  <a:pt x="428157" y="128268"/>
                </a:cubicBezTo>
                <a:close/>
                <a:moveTo>
                  <a:pt x="89685" y="428071"/>
                </a:moveTo>
                <a:lnTo>
                  <a:pt x="7921" y="346307"/>
                </a:lnTo>
                <a:cubicBezTo>
                  <a:pt x="-2725" y="335660"/>
                  <a:pt x="-2725" y="318371"/>
                  <a:pt x="7921" y="307724"/>
                </a:cubicBezTo>
                <a:lnTo>
                  <a:pt x="89685" y="225960"/>
                </a:lnTo>
                <a:cubicBezTo>
                  <a:pt x="97521" y="218124"/>
                  <a:pt x="109190" y="215824"/>
                  <a:pt x="119410" y="220083"/>
                </a:cubicBezTo>
                <a:cubicBezTo>
                  <a:pt x="129631" y="224341"/>
                  <a:pt x="136274" y="234306"/>
                  <a:pt x="136274" y="245294"/>
                </a:cubicBezTo>
                <a:lnTo>
                  <a:pt x="136274" y="299803"/>
                </a:lnTo>
                <a:lnTo>
                  <a:pt x="408823" y="299803"/>
                </a:lnTo>
                <a:cubicBezTo>
                  <a:pt x="423898" y="299803"/>
                  <a:pt x="436077" y="311983"/>
                  <a:pt x="436077" y="327058"/>
                </a:cubicBezTo>
                <a:cubicBezTo>
                  <a:pt x="436077" y="342133"/>
                  <a:pt x="423898" y="354313"/>
                  <a:pt x="408823" y="354313"/>
                </a:cubicBezTo>
                <a:lnTo>
                  <a:pt x="136274" y="354313"/>
                </a:lnTo>
                <a:lnTo>
                  <a:pt x="136274" y="408823"/>
                </a:lnTo>
                <a:cubicBezTo>
                  <a:pt x="136274" y="419810"/>
                  <a:pt x="129631" y="429775"/>
                  <a:pt x="119410" y="434033"/>
                </a:cubicBezTo>
                <a:cubicBezTo>
                  <a:pt x="109190" y="438292"/>
                  <a:pt x="97521" y="435907"/>
                  <a:pt x="89685" y="428157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27" name="Text 24"/>
          <p:cNvSpPr/>
          <p:nvPr/>
        </p:nvSpPr>
        <p:spPr>
          <a:xfrm>
            <a:off x="7479893" y="2145394"/>
            <a:ext cx="4188161" cy="29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17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Что мы даем взамен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7567336" y="2763171"/>
            <a:ext cx="143088" cy="163529"/>
          </a:xfrm>
          <a:custGeom>
            <a:avLst/>
            <a:gdLst/>
            <a:ahLst/>
            <a:cxnLst/>
            <a:rect l="l" t="t" r="r" b="b"/>
            <a:pathLst>
              <a:path w="143088" h="163529">
                <a:moveTo>
                  <a:pt x="138872" y="22389"/>
                </a:moveTo>
                <a:cubicBezTo>
                  <a:pt x="143439" y="25711"/>
                  <a:pt x="144461" y="32099"/>
                  <a:pt x="141140" y="36666"/>
                </a:cubicBezTo>
                <a:lnTo>
                  <a:pt x="59375" y="149093"/>
                </a:lnTo>
                <a:cubicBezTo>
                  <a:pt x="57618" y="151520"/>
                  <a:pt x="54904" y="153021"/>
                  <a:pt x="51901" y="153277"/>
                </a:cubicBezTo>
                <a:cubicBezTo>
                  <a:pt x="48899" y="153532"/>
                  <a:pt x="45993" y="152414"/>
                  <a:pt x="43885" y="150306"/>
                </a:cubicBezTo>
                <a:lnTo>
                  <a:pt x="3002" y="109424"/>
                </a:lnTo>
                <a:cubicBezTo>
                  <a:pt x="-990" y="105432"/>
                  <a:pt x="-990" y="98948"/>
                  <a:pt x="3002" y="94955"/>
                </a:cubicBezTo>
                <a:cubicBezTo>
                  <a:pt x="6995" y="90963"/>
                  <a:pt x="13478" y="90963"/>
                  <a:pt x="17471" y="94955"/>
                </a:cubicBezTo>
                <a:lnTo>
                  <a:pt x="49889" y="127374"/>
                </a:lnTo>
                <a:lnTo>
                  <a:pt x="124627" y="24625"/>
                </a:lnTo>
                <a:cubicBezTo>
                  <a:pt x="127949" y="20058"/>
                  <a:pt x="134337" y="19036"/>
                  <a:pt x="138904" y="22357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29" name="Text 26"/>
          <p:cNvSpPr/>
          <p:nvPr/>
        </p:nvSpPr>
        <p:spPr>
          <a:xfrm>
            <a:off x="7847833" y="2726831"/>
            <a:ext cx="1653461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Медийный ресурс и PR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567336" y="3090229"/>
            <a:ext cx="143088" cy="163529"/>
          </a:xfrm>
          <a:custGeom>
            <a:avLst/>
            <a:gdLst/>
            <a:ahLst/>
            <a:cxnLst/>
            <a:rect l="l" t="t" r="r" b="b"/>
            <a:pathLst>
              <a:path w="143088" h="163529">
                <a:moveTo>
                  <a:pt x="138872" y="22389"/>
                </a:moveTo>
                <a:cubicBezTo>
                  <a:pt x="143439" y="25711"/>
                  <a:pt x="144461" y="32099"/>
                  <a:pt x="141140" y="36666"/>
                </a:cubicBezTo>
                <a:lnTo>
                  <a:pt x="59375" y="149093"/>
                </a:lnTo>
                <a:cubicBezTo>
                  <a:pt x="57618" y="151520"/>
                  <a:pt x="54904" y="153021"/>
                  <a:pt x="51901" y="153277"/>
                </a:cubicBezTo>
                <a:cubicBezTo>
                  <a:pt x="48899" y="153532"/>
                  <a:pt x="45993" y="152414"/>
                  <a:pt x="43885" y="150306"/>
                </a:cubicBezTo>
                <a:lnTo>
                  <a:pt x="3002" y="109424"/>
                </a:lnTo>
                <a:cubicBezTo>
                  <a:pt x="-990" y="105432"/>
                  <a:pt x="-990" y="98948"/>
                  <a:pt x="3002" y="94955"/>
                </a:cubicBezTo>
                <a:cubicBezTo>
                  <a:pt x="6995" y="90963"/>
                  <a:pt x="13478" y="90963"/>
                  <a:pt x="17471" y="94955"/>
                </a:cubicBezTo>
                <a:lnTo>
                  <a:pt x="49889" y="127374"/>
                </a:lnTo>
                <a:lnTo>
                  <a:pt x="124627" y="24625"/>
                </a:lnTo>
                <a:cubicBezTo>
                  <a:pt x="127949" y="20058"/>
                  <a:pt x="134337" y="19036"/>
                  <a:pt x="138904" y="22357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31" name="Text 28"/>
          <p:cNvSpPr/>
          <p:nvPr/>
        </p:nvSpPr>
        <p:spPr>
          <a:xfrm>
            <a:off x="7847833" y="3053889"/>
            <a:ext cx="2695071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Нетворк фаундеров и инвесторов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7567336" y="3417287"/>
            <a:ext cx="143088" cy="163529"/>
          </a:xfrm>
          <a:custGeom>
            <a:avLst/>
            <a:gdLst/>
            <a:ahLst/>
            <a:cxnLst/>
            <a:rect l="l" t="t" r="r" b="b"/>
            <a:pathLst>
              <a:path w="143088" h="163529">
                <a:moveTo>
                  <a:pt x="138872" y="22389"/>
                </a:moveTo>
                <a:cubicBezTo>
                  <a:pt x="143439" y="25711"/>
                  <a:pt x="144461" y="32099"/>
                  <a:pt x="141140" y="36666"/>
                </a:cubicBezTo>
                <a:lnTo>
                  <a:pt x="59375" y="149093"/>
                </a:lnTo>
                <a:cubicBezTo>
                  <a:pt x="57618" y="151520"/>
                  <a:pt x="54904" y="153021"/>
                  <a:pt x="51901" y="153277"/>
                </a:cubicBezTo>
                <a:cubicBezTo>
                  <a:pt x="48899" y="153532"/>
                  <a:pt x="45993" y="152414"/>
                  <a:pt x="43885" y="150306"/>
                </a:cubicBezTo>
                <a:lnTo>
                  <a:pt x="3002" y="109424"/>
                </a:lnTo>
                <a:cubicBezTo>
                  <a:pt x="-990" y="105432"/>
                  <a:pt x="-990" y="98948"/>
                  <a:pt x="3002" y="94955"/>
                </a:cubicBezTo>
                <a:cubicBezTo>
                  <a:pt x="6995" y="90963"/>
                  <a:pt x="13478" y="90963"/>
                  <a:pt x="17471" y="94955"/>
                </a:cubicBezTo>
                <a:lnTo>
                  <a:pt x="49889" y="127374"/>
                </a:lnTo>
                <a:lnTo>
                  <a:pt x="124627" y="24625"/>
                </a:lnTo>
                <a:cubicBezTo>
                  <a:pt x="127949" y="20058"/>
                  <a:pt x="134337" y="19036"/>
                  <a:pt x="138904" y="22357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33" name="Text 30"/>
          <p:cNvSpPr/>
          <p:nvPr/>
        </p:nvSpPr>
        <p:spPr>
          <a:xfrm>
            <a:off x="7847833" y="3380947"/>
            <a:ext cx="1726140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Интеграция резидентов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7567336" y="3744345"/>
            <a:ext cx="143088" cy="163529"/>
          </a:xfrm>
          <a:custGeom>
            <a:avLst/>
            <a:gdLst/>
            <a:ahLst/>
            <a:cxnLst/>
            <a:rect l="l" t="t" r="r" b="b"/>
            <a:pathLst>
              <a:path w="143088" h="163529">
                <a:moveTo>
                  <a:pt x="138872" y="22389"/>
                </a:moveTo>
                <a:cubicBezTo>
                  <a:pt x="143439" y="25711"/>
                  <a:pt x="144461" y="32099"/>
                  <a:pt x="141140" y="36666"/>
                </a:cubicBezTo>
                <a:lnTo>
                  <a:pt x="59375" y="149093"/>
                </a:lnTo>
                <a:cubicBezTo>
                  <a:pt x="57618" y="151520"/>
                  <a:pt x="54904" y="153021"/>
                  <a:pt x="51901" y="153277"/>
                </a:cubicBezTo>
                <a:cubicBezTo>
                  <a:pt x="48899" y="153532"/>
                  <a:pt x="45993" y="152414"/>
                  <a:pt x="43885" y="150306"/>
                </a:cubicBezTo>
                <a:lnTo>
                  <a:pt x="3002" y="109424"/>
                </a:lnTo>
                <a:cubicBezTo>
                  <a:pt x="-990" y="105432"/>
                  <a:pt x="-990" y="98948"/>
                  <a:pt x="3002" y="94955"/>
                </a:cubicBezTo>
                <a:cubicBezTo>
                  <a:pt x="6995" y="90963"/>
                  <a:pt x="13478" y="90963"/>
                  <a:pt x="17471" y="94955"/>
                </a:cubicBezTo>
                <a:lnTo>
                  <a:pt x="49889" y="127374"/>
                </a:lnTo>
                <a:lnTo>
                  <a:pt x="124627" y="24625"/>
                </a:lnTo>
                <a:cubicBezTo>
                  <a:pt x="127949" y="20058"/>
                  <a:pt x="134337" y="19036"/>
                  <a:pt x="138904" y="22357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35" name="Text 32"/>
          <p:cNvSpPr/>
          <p:nvPr/>
        </p:nvSpPr>
        <p:spPr>
          <a:xfrm>
            <a:off x="7847833" y="3708005"/>
            <a:ext cx="1262808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Генерация лидов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7567336" y="4071403"/>
            <a:ext cx="143088" cy="163529"/>
          </a:xfrm>
          <a:custGeom>
            <a:avLst/>
            <a:gdLst/>
            <a:ahLst/>
            <a:cxnLst/>
            <a:rect l="l" t="t" r="r" b="b"/>
            <a:pathLst>
              <a:path w="143088" h="163529">
                <a:moveTo>
                  <a:pt x="138872" y="22389"/>
                </a:moveTo>
                <a:cubicBezTo>
                  <a:pt x="143439" y="25711"/>
                  <a:pt x="144461" y="32099"/>
                  <a:pt x="141140" y="36666"/>
                </a:cubicBezTo>
                <a:lnTo>
                  <a:pt x="59375" y="149093"/>
                </a:lnTo>
                <a:cubicBezTo>
                  <a:pt x="57618" y="151520"/>
                  <a:pt x="54904" y="153021"/>
                  <a:pt x="51901" y="153277"/>
                </a:cubicBezTo>
                <a:cubicBezTo>
                  <a:pt x="48899" y="153532"/>
                  <a:pt x="45993" y="152414"/>
                  <a:pt x="43885" y="150306"/>
                </a:cubicBezTo>
                <a:lnTo>
                  <a:pt x="3002" y="109424"/>
                </a:lnTo>
                <a:cubicBezTo>
                  <a:pt x="-990" y="105432"/>
                  <a:pt x="-990" y="98948"/>
                  <a:pt x="3002" y="94955"/>
                </a:cubicBezTo>
                <a:cubicBezTo>
                  <a:pt x="6995" y="90963"/>
                  <a:pt x="13478" y="90963"/>
                  <a:pt x="17471" y="94955"/>
                </a:cubicBezTo>
                <a:lnTo>
                  <a:pt x="49889" y="127374"/>
                </a:lnTo>
                <a:lnTo>
                  <a:pt x="124627" y="24625"/>
                </a:lnTo>
                <a:cubicBezTo>
                  <a:pt x="127949" y="20058"/>
                  <a:pt x="134337" y="19036"/>
                  <a:pt x="138904" y="22357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37" name="Text 34"/>
          <p:cNvSpPr/>
          <p:nvPr/>
        </p:nvSpPr>
        <p:spPr>
          <a:xfrm>
            <a:off x="7847833" y="4035064"/>
            <a:ext cx="1662545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Retention-инструменты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7325449" y="4625585"/>
            <a:ext cx="4497049" cy="1399082"/>
          </a:xfrm>
          <a:custGeom>
            <a:avLst/>
            <a:gdLst/>
            <a:ahLst/>
            <a:cxnLst/>
            <a:rect l="l" t="t" r="r" b="b"/>
            <a:pathLst>
              <a:path w="4497049" h="1399082">
                <a:moveTo>
                  <a:pt x="0" y="0"/>
                </a:moveTo>
                <a:lnTo>
                  <a:pt x="4497049" y="0"/>
                </a:lnTo>
                <a:lnTo>
                  <a:pt x="4497049" y="1399082"/>
                </a:lnTo>
                <a:lnTo>
                  <a:pt x="0" y="1399082"/>
                </a:lnTo>
                <a:lnTo>
                  <a:pt x="0" y="0"/>
                </a:lnTo>
                <a:close/>
              </a:path>
            </a:pathLst>
          </a:custGeom>
          <a:solidFill>
            <a:srgbClr val="262626">
              <a:alpha val="90196"/>
            </a:srgbClr>
          </a:solidFill>
          <a:ln w="25400">
            <a:solidFill>
              <a:srgbClr val="BFFF0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479893" y="4816369"/>
            <a:ext cx="4188161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5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Финансовые условия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7407213" y="5107087"/>
            <a:ext cx="4333520" cy="436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434" b="1" dirty="0">
                <a:solidFill>
                  <a:srgbClr val="BF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$0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7479893" y="5615844"/>
            <a:ext cx="4188161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Стопроцентный бартер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367940" y="6183654"/>
            <a:ext cx="11456119" cy="445162"/>
          </a:xfrm>
          <a:custGeom>
            <a:avLst/>
            <a:gdLst/>
            <a:ahLst/>
            <a:cxnLst/>
            <a:rect l="l" t="t" r="r" b="b"/>
            <a:pathLst>
              <a:path w="11456119" h="445162">
                <a:moveTo>
                  <a:pt x="0" y="0"/>
                </a:moveTo>
                <a:lnTo>
                  <a:pt x="11456119" y="0"/>
                </a:lnTo>
                <a:lnTo>
                  <a:pt x="11456119" y="445162"/>
                </a:lnTo>
                <a:lnTo>
                  <a:pt x="0" y="445162"/>
                </a:lnTo>
                <a:lnTo>
                  <a:pt x="0" y="0"/>
                </a:lnTo>
                <a:close/>
              </a:path>
            </a:pathLst>
          </a:custGeom>
          <a:solidFill>
            <a:srgbClr val="BFFF00">
              <a:alpha val="10196"/>
            </a:srgbClr>
          </a:solidFill>
          <a:ln w="12700">
            <a:solidFill>
              <a:srgbClr val="BFFF00">
                <a:alpha val="30196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605677" y="6315385"/>
            <a:ext cx="181699" cy="181699"/>
          </a:xfrm>
          <a:custGeom>
            <a:avLst/>
            <a:gdLst/>
            <a:ahLst/>
            <a:cxnLst/>
            <a:rect l="l" t="t" r="r" b="b"/>
            <a:pathLst>
              <a:path w="181699" h="181699">
                <a:moveTo>
                  <a:pt x="90849" y="181699"/>
                </a:moveTo>
                <a:cubicBezTo>
                  <a:pt x="140991" y="181699"/>
                  <a:pt x="181699" y="140991"/>
                  <a:pt x="181699" y="90849"/>
                </a:cubicBezTo>
                <a:cubicBezTo>
                  <a:pt x="181699" y="40708"/>
                  <a:pt x="140991" y="0"/>
                  <a:pt x="90849" y="0"/>
                </a:cubicBezTo>
                <a:cubicBezTo>
                  <a:pt x="40708" y="0"/>
                  <a:pt x="0" y="40708"/>
                  <a:pt x="0" y="90849"/>
                </a:cubicBezTo>
                <a:cubicBezTo>
                  <a:pt x="0" y="140991"/>
                  <a:pt x="40708" y="181699"/>
                  <a:pt x="90849" y="181699"/>
                </a:cubicBezTo>
                <a:close/>
                <a:moveTo>
                  <a:pt x="79493" y="56781"/>
                </a:moveTo>
                <a:cubicBezTo>
                  <a:pt x="79493" y="50513"/>
                  <a:pt x="84582" y="45425"/>
                  <a:pt x="90849" y="45425"/>
                </a:cubicBezTo>
                <a:cubicBezTo>
                  <a:pt x="97117" y="45425"/>
                  <a:pt x="102206" y="50513"/>
                  <a:pt x="102206" y="56781"/>
                </a:cubicBezTo>
                <a:cubicBezTo>
                  <a:pt x="102206" y="63049"/>
                  <a:pt x="97117" y="68137"/>
                  <a:pt x="90849" y="68137"/>
                </a:cubicBezTo>
                <a:cubicBezTo>
                  <a:pt x="84582" y="68137"/>
                  <a:pt x="79493" y="63049"/>
                  <a:pt x="79493" y="56781"/>
                </a:cubicBezTo>
                <a:close/>
                <a:moveTo>
                  <a:pt x="76654" y="79493"/>
                </a:moveTo>
                <a:lnTo>
                  <a:pt x="93689" y="79493"/>
                </a:lnTo>
                <a:cubicBezTo>
                  <a:pt x="98408" y="79493"/>
                  <a:pt x="102206" y="83291"/>
                  <a:pt x="102206" y="88010"/>
                </a:cubicBezTo>
                <a:lnTo>
                  <a:pt x="102206" y="119240"/>
                </a:lnTo>
                <a:lnTo>
                  <a:pt x="105045" y="119240"/>
                </a:lnTo>
                <a:cubicBezTo>
                  <a:pt x="109765" y="119240"/>
                  <a:pt x="113562" y="123037"/>
                  <a:pt x="113562" y="127757"/>
                </a:cubicBezTo>
                <a:cubicBezTo>
                  <a:pt x="113562" y="132477"/>
                  <a:pt x="109765" y="136274"/>
                  <a:pt x="105045" y="136274"/>
                </a:cubicBezTo>
                <a:lnTo>
                  <a:pt x="76654" y="136274"/>
                </a:lnTo>
                <a:cubicBezTo>
                  <a:pt x="71934" y="136274"/>
                  <a:pt x="68137" y="132477"/>
                  <a:pt x="68137" y="127757"/>
                </a:cubicBezTo>
                <a:cubicBezTo>
                  <a:pt x="68137" y="123037"/>
                  <a:pt x="71934" y="119240"/>
                  <a:pt x="76654" y="119240"/>
                </a:cubicBezTo>
                <a:lnTo>
                  <a:pt x="85171" y="119240"/>
                </a:lnTo>
                <a:lnTo>
                  <a:pt x="85171" y="96528"/>
                </a:lnTo>
                <a:lnTo>
                  <a:pt x="76654" y="96528"/>
                </a:lnTo>
                <a:cubicBezTo>
                  <a:pt x="71934" y="96528"/>
                  <a:pt x="68137" y="92730"/>
                  <a:pt x="68137" y="88010"/>
                </a:cubicBezTo>
                <a:cubicBezTo>
                  <a:pt x="68137" y="83291"/>
                  <a:pt x="71934" y="79493"/>
                  <a:pt x="76654" y="79493"/>
                </a:cubicBez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44" name="Text 41"/>
          <p:cNvSpPr/>
          <p:nvPr/>
        </p:nvSpPr>
        <p:spPr>
          <a:xfrm>
            <a:off x="2919107" y="6297216"/>
            <a:ext cx="6768286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UNTITLED делает вас </a:t>
            </a:r>
            <a:r>
              <a:rPr lang="en-US" sz="114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официальной и единственной</a:t>
            </a:r>
            <a:r>
              <a:rPr lang="en-US" sz="1145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домашней базой на ближайшие 6-12 месяцев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4934" y="275912"/>
            <a:ext cx="11553118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b="1" kern="0" spc="112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/ ROADMAP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4934" y="559860"/>
            <a:ext cx="11641852" cy="3993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51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План на ближайшие 60 дней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4934" y="1030148"/>
            <a:ext cx="11570865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7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Апрель – Май 2026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2681" y="1456070"/>
            <a:ext cx="7329397" cy="1135790"/>
          </a:xfrm>
          <a:custGeom>
            <a:avLst/>
            <a:gdLst/>
            <a:ahLst/>
            <a:cxnLst/>
            <a:rect l="l" t="t" r="r" b="b"/>
            <a:pathLst>
              <a:path w="7329397" h="1135790">
                <a:moveTo>
                  <a:pt x="0" y="0"/>
                </a:moveTo>
                <a:lnTo>
                  <a:pt x="7329397" y="0"/>
                </a:lnTo>
                <a:lnTo>
                  <a:pt x="7329397" y="1135790"/>
                </a:lnTo>
                <a:lnTo>
                  <a:pt x="0" y="1135790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6" name="Shape 4"/>
          <p:cNvSpPr/>
          <p:nvPr/>
        </p:nvSpPr>
        <p:spPr>
          <a:xfrm>
            <a:off x="372681" y="1456070"/>
            <a:ext cx="35493" cy="1135790"/>
          </a:xfrm>
          <a:custGeom>
            <a:avLst/>
            <a:gdLst/>
            <a:ahLst/>
            <a:cxnLst/>
            <a:rect l="l" t="t" r="r" b="b"/>
            <a:pathLst>
              <a:path w="35493" h="1135790">
                <a:moveTo>
                  <a:pt x="0" y="0"/>
                </a:moveTo>
                <a:lnTo>
                  <a:pt x="35493" y="0"/>
                </a:lnTo>
                <a:lnTo>
                  <a:pt x="35493" y="1135790"/>
                </a:lnTo>
                <a:lnTo>
                  <a:pt x="0" y="113579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7" name="Shape 5"/>
          <p:cNvSpPr/>
          <p:nvPr/>
        </p:nvSpPr>
        <p:spPr>
          <a:xfrm>
            <a:off x="567895" y="1633537"/>
            <a:ext cx="567895" cy="567895"/>
          </a:xfrm>
          <a:custGeom>
            <a:avLst/>
            <a:gdLst/>
            <a:ahLst/>
            <a:cxnLst/>
            <a:rect l="l" t="t" r="r" b="b"/>
            <a:pathLst>
              <a:path w="567895" h="567895">
                <a:moveTo>
                  <a:pt x="0" y="0"/>
                </a:moveTo>
                <a:lnTo>
                  <a:pt x="567895" y="0"/>
                </a:lnTo>
                <a:lnTo>
                  <a:pt x="567895" y="567895"/>
                </a:lnTo>
                <a:lnTo>
                  <a:pt x="0" y="567895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8" name="Text 6"/>
          <p:cNvSpPr/>
          <p:nvPr/>
        </p:nvSpPr>
        <p:spPr>
          <a:xfrm>
            <a:off x="786402" y="1704524"/>
            <a:ext cx="239581" cy="28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7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7773" y="1988471"/>
            <a:ext cx="479162" cy="141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8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выездов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77764" y="1633537"/>
            <a:ext cx="6335581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«Founder Reality»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77764" y="1952978"/>
            <a:ext cx="6317834" cy="4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8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Аудит и внедрение </a:t>
            </a:r>
            <a:r>
              <a:rPr lang="en-US" sz="1118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AI-инструментов</a:t>
            </a:r>
            <a:r>
              <a:rPr lang="en-US" sz="1118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в реальные стартапы. Съемки разборов на вашей локации.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2681" y="2733834"/>
            <a:ext cx="7329397" cy="1135790"/>
          </a:xfrm>
          <a:custGeom>
            <a:avLst/>
            <a:gdLst/>
            <a:ahLst/>
            <a:cxnLst/>
            <a:rect l="l" t="t" r="r" b="b"/>
            <a:pathLst>
              <a:path w="7329397" h="1135790">
                <a:moveTo>
                  <a:pt x="0" y="0"/>
                </a:moveTo>
                <a:lnTo>
                  <a:pt x="7329397" y="0"/>
                </a:lnTo>
                <a:lnTo>
                  <a:pt x="7329397" y="1135790"/>
                </a:lnTo>
                <a:lnTo>
                  <a:pt x="0" y="1135790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3" name="Shape 11"/>
          <p:cNvSpPr/>
          <p:nvPr/>
        </p:nvSpPr>
        <p:spPr>
          <a:xfrm>
            <a:off x="372681" y="2733834"/>
            <a:ext cx="35493" cy="1135790"/>
          </a:xfrm>
          <a:custGeom>
            <a:avLst/>
            <a:gdLst/>
            <a:ahLst/>
            <a:cxnLst/>
            <a:rect l="l" t="t" r="r" b="b"/>
            <a:pathLst>
              <a:path w="35493" h="1135790">
                <a:moveTo>
                  <a:pt x="0" y="0"/>
                </a:moveTo>
                <a:lnTo>
                  <a:pt x="35493" y="0"/>
                </a:lnTo>
                <a:lnTo>
                  <a:pt x="35493" y="1135790"/>
                </a:lnTo>
                <a:lnTo>
                  <a:pt x="0" y="113579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14" name="Shape 12"/>
          <p:cNvSpPr/>
          <p:nvPr/>
        </p:nvSpPr>
        <p:spPr>
          <a:xfrm>
            <a:off x="567895" y="2911301"/>
            <a:ext cx="567895" cy="567895"/>
          </a:xfrm>
          <a:custGeom>
            <a:avLst/>
            <a:gdLst/>
            <a:ahLst/>
            <a:cxnLst/>
            <a:rect l="l" t="t" r="r" b="b"/>
            <a:pathLst>
              <a:path w="567895" h="567895">
                <a:moveTo>
                  <a:pt x="0" y="0"/>
                </a:moveTo>
                <a:lnTo>
                  <a:pt x="567895" y="0"/>
                </a:lnTo>
                <a:lnTo>
                  <a:pt x="567895" y="567895"/>
                </a:lnTo>
                <a:lnTo>
                  <a:pt x="0" y="567895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15" name="Shape 13"/>
          <p:cNvSpPr/>
          <p:nvPr/>
        </p:nvSpPr>
        <p:spPr>
          <a:xfrm>
            <a:off x="718742" y="3088768"/>
            <a:ext cx="266201" cy="212961"/>
          </a:xfrm>
          <a:custGeom>
            <a:avLst/>
            <a:gdLst/>
            <a:ahLst/>
            <a:cxnLst/>
            <a:rect l="l" t="t" r="r" b="b"/>
            <a:pathLst>
              <a:path w="266201" h="212961">
                <a:moveTo>
                  <a:pt x="146410" y="0"/>
                </a:moveTo>
                <a:cubicBezTo>
                  <a:pt x="146410" y="-7362"/>
                  <a:pt x="140463" y="-13310"/>
                  <a:pt x="133100" y="-13310"/>
                </a:cubicBezTo>
                <a:cubicBezTo>
                  <a:pt x="125738" y="-13310"/>
                  <a:pt x="119790" y="-7362"/>
                  <a:pt x="119790" y="0"/>
                </a:cubicBezTo>
                <a:lnTo>
                  <a:pt x="119790" y="26620"/>
                </a:lnTo>
                <a:lnTo>
                  <a:pt x="79860" y="26620"/>
                </a:lnTo>
                <a:cubicBezTo>
                  <a:pt x="57816" y="26620"/>
                  <a:pt x="39930" y="44505"/>
                  <a:pt x="39930" y="66550"/>
                </a:cubicBezTo>
                <a:lnTo>
                  <a:pt x="39930" y="159721"/>
                </a:lnTo>
                <a:cubicBezTo>
                  <a:pt x="39930" y="181765"/>
                  <a:pt x="57816" y="199651"/>
                  <a:pt x="79860" y="199651"/>
                </a:cubicBezTo>
                <a:lnTo>
                  <a:pt x="186341" y="199651"/>
                </a:lnTo>
                <a:cubicBezTo>
                  <a:pt x="208385" y="199651"/>
                  <a:pt x="226271" y="181765"/>
                  <a:pt x="226271" y="159721"/>
                </a:cubicBezTo>
                <a:lnTo>
                  <a:pt x="226271" y="66550"/>
                </a:lnTo>
                <a:cubicBezTo>
                  <a:pt x="226271" y="44505"/>
                  <a:pt x="208385" y="26620"/>
                  <a:pt x="186341" y="26620"/>
                </a:cubicBezTo>
                <a:lnTo>
                  <a:pt x="146410" y="26620"/>
                </a:lnTo>
                <a:lnTo>
                  <a:pt x="146410" y="0"/>
                </a:lnTo>
                <a:close/>
                <a:moveTo>
                  <a:pt x="66550" y="153066"/>
                </a:moveTo>
                <a:cubicBezTo>
                  <a:pt x="66550" y="147534"/>
                  <a:pt x="71001" y="143083"/>
                  <a:pt x="76533" y="143083"/>
                </a:cubicBezTo>
                <a:lnTo>
                  <a:pt x="89843" y="143083"/>
                </a:lnTo>
                <a:cubicBezTo>
                  <a:pt x="95375" y="143083"/>
                  <a:pt x="99825" y="147534"/>
                  <a:pt x="99825" y="153066"/>
                </a:cubicBezTo>
                <a:cubicBezTo>
                  <a:pt x="99825" y="158597"/>
                  <a:pt x="95375" y="163048"/>
                  <a:pt x="89843" y="163048"/>
                </a:cubicBezTo>
                <a:lnTo>
                  <a:pt x="76533" y="163048"/>
                </a:lnTo>
                <a:cubicBezTo>
                  <a:pt x="71001" y="163048"/>
                  <a:pt x="66550" y="158597"/>
                  <a:pt x="66550" y="153066"/>
                </a:cubicBezTo>
                <a:close/>
                <a:moveTo>
                  <a:pt x="116463" y="153066"/>
                </a:moveTo>
                <a:cubicBezTo>
                  <a:pt x="116463" y="147534"/>
                  <a:pt x="120913" y="143083"/>
                  <a:pt x="126445" y="143083"/>
                </a:cubicBezTo>
                <a:lnTo>
                  <a:pt x="139755" y="143083"/>
                </a:lnTo>
                <a:cubicBezTo>
                  <a:pt x="145287" y="143083"/>
                  <a:pt x="149738" y="147534"/>
                  <a:pt x="149738" y="153066"/>
                </a:cubicBezTo>
                <a:cubicBezTo>
                  <a:pt x="149738" y="158597"/>
                  <a:pt x="145287" y="163048"/>
                  <a:pt x="139755" y="163048"/>
                </a:cubicBezTo>
                <a:lnTo>
                  <a:pt x="126445" y="163048"/>
                </a:lnTo>
                <a:cubicBezTo>
                  <a:pt x="120913" y="163048"/>
                  <a:pt x="116463" y="158597"/>
                  <a:pt x="116463" y="153066"/>
                </a:cubicBezTo>
                <a:close/>
                <a:moveTo>
                  <a:pt x="166376" y="153066"/>
                </a:moveTo>
                <a:cubicBezTo>
                  <a:pt x="166376" y="147534"/>
                  <a:pt x="170826" y="143083"/>
                  <a:pt x="176358" y="143083"/>
                </a:cubicBezTo>
                <a:lnTo>
                  <a:pt x="189668" y="143083"/>
                </a:lnTo>
                <a:cubicBezTo>
                  <a:pt x="195200" y="143083"/>
                  <a:pt x="199651" y="147534"/>
                  <a:pt x="199651" y="153066"/>
                </a:cubicBezTo>
                <a:cubicBezTo>
                  <a:pt x="199651" y="158597"/>
                  <a:pt x="195200" y="163048"/>
                  <a:pt x="189668" y="163048"/>
                </a:cubicBezTo>
                <a:lnTo>
                  <a:pt x="176358" y="163048"/>
                </a:lnTo>
                <a:cubicBezTo>
                  <a:pt x="170826" y="163048"/>
                  <a:pt x="166376" y="158597"/>
                  <a:pt x="166376" y="153066"/>
                </a:cubicBezTo>
                <a:close/>
                <a:moveTo>
                  <a:pt x="93170" y="73205"/>
                </a:moveTo>
                <a:cubicBezTo>
                  <a:pt x="104189" y="73205"/>
                  <a:pt x="113135" y="82151"/>
                  <a:pt x="113135" y="93170"/>
                </a:cubicBezTo>
                <a:cubicBezTo>
                  <a:pt x="113135" y="104189"/>
                  <a:pt x="104189" y="113135"/>
                  <a:pt x="93170" y="113135"/>
                </a:cubicBezTo>
                <a:cubicBezTo>
                  <a:pt x="82151" y="113135"/>
                  <a:pt x="73205" y="104189"/>
                  <a:pt x="73205" y="93170"/>
                </a:cubicBezTo>
                <a:cubicBezTo>
                  <a:pt x="73205" y="82151"/>
                  <a:pt x="82151" y="73205"/>
                  <a:pt x="93170" y="73205"/>
                </a:cubicBezTo>
                <a:close/>
                <a:moveTo>
                  <a:pt x="153066" y="93170"/>
                </a:moveTo>
                <a:cubicBezTo>
                  <a:pt x="153066" y="82151"/>
                  <a:pt x="162012" y="73205"/>
                  <a:pt x="173031" y="73205"/>
                </a:cubicBezTo>
                <a:cubicBezTo>
                  <a:pt x="184050" y="73205"/>
                  <a:pt x="192996" y="82151"/>
                  <a:pt x="192996" y="93170"/>
                </a:cubicBezTo>
                <a:cubicBezTo>
                  <a:pt x="192996" y="104189"/>
                  <a:pt x="184050" y="113135"/>
                  <a:pt x="173031" y="113135"/>
                </a:cubicBezTo>
                <a:cubicBezTo>
                  <a:pt x="162012" y="113135"/>
                  <a:pt x="153066" y="104189"/>
                  <a:pt x="153066" y="93170"/>
                </a:cubicBezTo>
                <a:close/>
                <a:moveTo>
                  <a:pt x="26620" y="93170"/>
                </a:moveTo>
                <a:cubicBezTo>
                  <a:pt x="26620" y="85808"/>
                  <a:pt x="20672" y="79860"/>
                  <a:pt x="13310" y="79860"/>
                </a:cubicBezTo>
                <a:cubicBezTo>
                  <a:pt x="5948" y="79860"/>
                  <a:pt x="0" y="85808"/>
                  <a:pt x="0" y="93170"/>
                </a:cubicBezTo>
                <a:lnTo>
                  <a:pt x="0" y="133100"/>
                </a:lnTo>
                <a:cubicBezTo>
                  <a:pt x="0" y="140463"/>
                  <a:pt x="5948" y="146410"/>
                  <a:pt x="13310" y="146410"/>
                </a:cubicBezTo>
                <a:cubicBezTo>
                  <a:pt x="20672" y="146410"/>
                  <a:pt x="26620" y="140463"/>
                  <a:pt x="26620" y="133100"/>
                </a:cubicBezTo>
                <a:lnTo>
                  <a:pt x="26620" y="93170"/>
                </a:lnTo>
                <a:close/>
                <a:moveTo>
                  <a:pt x="252891" y="79860"/>
                </a:moveTo>
                <a:cubicBezTo>
                  <a:pt x="245529" y="79860"/>
                  <a:pt x="239581" y="85808"/>
                  <a:pt x="239581" y="93170"/>
                </a:cubicBezTo>
                <a:lnTo>
                  <a:pt x="239581" y="133100"/>
                </a:lnTo>
                <a:cubicBezTo>
                  <a:pt x="239581" y="140463"/>
                  <a:pt x="245529" y="146410"/>
                  <a:pt x="252891" y="146410"/>
                </a:cubicBezTo>
                <a:cubicBezTo>
                  <a:pt x="260253" y="146410"/>
                  <a:pt x="266201" y="140463"/>
                  <a:pt x="266201" y="133100"/>
                </a:cubicBezTo>
                <a:lnTo>
                  <a:pt x="266201" y="93170"/>
                </a:lnTo>
                <a:cubicBezTo>
                  <a:pt x="266201" y="85808"/>
                  <a:pt x="260253" y="79860"/>
                  <a:pt x="252891" y="79860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1277764" y="2911301"/>
            <a:ext cx="6335581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Запуск Founder OS Bot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77764" y="3230742"/>
            <a:ext cx="6317834" cy="4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8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Релиз Telegram-бота с базой знаний. </a:t>
            </a:r>
            <a:r>
              <a:rPr lang="en-US" sz="1118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Упоминание вас как генерального партнера</a:t>
            </a:r>
            <a:r>
              <a:rPr lang="en-US" sz="1118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в интерфейсе.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2681" y="4011598"/>
            <a:ext cx="7329397" cy="1135790"/>
          </a:xfrm>
          <a:custGeom>
            <a:avLst/>
            <a:gdLst/>
            <a:ahLst/>
            <a:cxnLst/>
            <a:rect l="l" t="t" r="r" b="b"/>
            <a:pathLst>
              <a:path w="7329397" h="1135790">
                <a:moveTo>
                  <a:pt x="0" y="0"/>
                </a:moveTo>
                <a:lnTo>
                  <a:pt x="7329397" y="0"/>
                </a:lnTo>
                <a:lnTo>
                  <a:pt x="7329397" y="1135790"/>
                </a:lnTo>
                <a:lnTo>
                  <a:pt x="0" y="1135790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9" name="Shape 17"/>
          <p:cNvSpPr/>
          <p:nvPr/>
        </p:nvSpPr>
        <p:spPr>
          <a:xfrm>
            <a:off x="372681" y="4011598"/>
            <a:ext cx="35493" cy="1135790"/>
          </a:xfrm>
          <a:custGeom>
            <a:avLst/>
            <a:gdLst/>
            <a:ahLst/>
            <a:cxnLst/>
            <a:rect l="l" t="t" r="r" b="b"/>
            <a:pathLst>
              <a:path w="35493" h="1135790">
                <a:moveTo>
                  <a:pt x="0" y="0"/>
                </a:moveTo>
                <a:lnTo>
                  <a:pt x="35493" y="0"/>
                </a:lnTo>
                <a:lnTo>
                  <a:pt x="35493" y="1135790"/>
                </a:lnTo>
                <a:lnTo>
                  <a:pt x="0" y="113579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20" name="Shape 18"/>
          <p:cNvSpPr/>
          <p:nvPr/>
        </p:nvSpPr>
        <p:spPr>
          <a:xfrm>
            <a:off x="567895" y="4189065"/>
            <a:ext cx="567895" cy="567895"/>
          </a:xfrm>
          <a:custGeom>
            <a:avLst/>
            <a:gdLst/>
            <a:ahLst/>
            <a:cxnLst/>
            <a:rect l="l" t="t" r="r" b="b"/>
            <a:pathLst>
              <a:path w="567895" h="567895">
                <a:moveTo>
                  <a:pt x="0" y="0"/>
                </a:moveTo>
                <a:lnTo>
                  <a:pt x="567895" y="0"/>
                </a:lnTo>
                <a:lnTo>
                  <a:pt x="567895" y="567895"/>
                </a:lnTo>
                <a:lnTo>
                  <a:pt x="0" y="567895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21" name="Text 19"/>
          <p:cNvSpPr/>
          <p:nvPr/>
        </p:nvSpPr>
        <p:spPr>
          <a:xfrm>
            <a:off x="789105" y="4260052"/>
            <a:ext cx="230707" cy="28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7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0997" y="4544000"/>
            <a:ext cx="514655" cy="141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8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подкаста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77764" y="4189065"/>
            <a:ext cx="6335581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«VC Talks»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77764" y="4508506"/>
            <a:ext cx="6317834" cy="46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8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Интервью с ведущими венчурными фондами Узбекистана: </a:t>
            </a:r>
            <a:r>
              <a:rPr lang="en-US" sz="1118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AloqaVentures, UzVC, PnP</a:t>
            </a:r>
            <a:r>
              <a:rPr lang="en-US" sz="1118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и другими.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72681" y="5289362"/>
            <a:ext cx="7329397" cy="922830"/>
          </a:xfrm>
          <a:custGeom>
            <a:avLst/>
            <a:gdLst/>
            <a:ahLst/>
            <a:cxnLst/>
            <a:rect l="l" t="t" r="r" b="b"/>
            <a:pathLst>
              <a:path w="7329397" h="922830">
                <a:moveTo>
                  <a:pt x="0" y="0"/>
                </a:moveTo>
                <a:lnTo>
                  <a:pt x="7329397" y="0"/>
                </a:lnTo>
                <a:lnTo>
                  <a:pt x="7329397" y="922830"/>
                </a:lnTo>
                <a:lnTo>
                  <a:pt x="0" y="922830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26" name="Shape 24"/>
          <p:cNvSpPr/>
          <p:nvPr/>
        </p:nvSpPr>
        <p:spPr>
          <a:xfrm>
            <a:off x="372681" y="5289362"/>
            <a:ext cx="35493" cy="922830"/>
          </a:xfrm>
          <a:custGeom>
            <a:avLst/>
            <a:gdLst/>
            <a:ahLst/>
            <a:cxnLst/>
            <a:rect l="l" t="t" r="r" b="b"/>
            <a:pathLst>
              <a:path w="35493" h="922830">
                <a:moveTo>
                  <a:pt x="0" y="0"/>
                </a:moveTo>
                <a:lnTo>
                  <a:pt x="35493" y="0"/>
                </a:lnTo>
                <a:lnTo>
                  <a:pt x="35493" y="922830"/>
                </a:lnTo>
                <a:lnTo>
                  <a:pt x="0" y="92283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27" name="Shape 25"/>
          <p:cNvSpPr/>
          <p:nvPr/>
        </p:nvSpPr>
        <p:spPr>
          <a:xfrm>
            <a:off x="567895" y="5466830"/>
            <a:ext cx="567895" cy="567895"/>
          </a:xfrm>
          <a:custGeom>
            <a:avLst/>
            <a:gdLst/>
            <a:ahLst/>
            <a:cxnLst/>
            <a:rect l="l" t="t" r="r" b="b"/>
            <a:pathLst>
              <a:path w="567895" h="567895">
                <a:moveTo>
                  <a:pt x="0" y="0"/>
                </a:moveTo>
                <a:lnTo>
                  <a:pt x="567895" y="0"/>
                </a:lnTo>
                <a:lnTo>
                  <a:pt x="567895" y="567895"/>
                </a:lnTo>
                <a:lnTo>
                  <a:pt x="0" y="567895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28" name="Text 26"/>
          <p:cNvSpPr/>
          <p:nvPr/>
        </p:nvSpPr>
        <p:spPr>
          <a:xfrm>
            <a:off x="809209" y="5537816"/>
            <a:ext cx="195214" cy="28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7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22486" y="5821764"/>
            <a:ext cx="310568" cy="141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8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ужин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77764" y="5466830"/>
            <a:ext cx="6335581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Industry Dinner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77764" y="5786271"/>
            <a:ext cx="6317834" cy="230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8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Закрытый ужин с </a:t>
            </a:r>
            <a:r>
              <a:rPr lang="en-US" sz="1118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локальными инвесторами</a:t>
            </a:r>
            <a:r>
              <a:rPr lang="en-US" sz="1118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и бизнес-ангелами на вашей ивент-площадке.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881695" y="1456070"/>
            <a:ext cx="3957520" cy="3549345"/>
          </a:xfrm>
          <a:custGeom>
            <a:avLst/>
            <a:gdLst/>
            <a:ahLst/>
            <a:cxnLst/>
            <a:rect l="l" t="t" r="r" b="b"/>
            <a:pathLst>
              <a:path w="3957520" h="3549345">
                <a:moveTo>
                  <a:pt x="0" y="0"/>
                </a:moveTo>
                <a:lnTo>
                  <a:pt x="3957520" y="0"/>
                </a:lnTo>
                <a:lnTo>
                  <a:pt x="3957520" y="3549345"/>
                </a:lnTo>
                <a:lnTo>
                  <a:pt x="0" y="3549345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33" name="Shape 31"/>
          <p:cNvSpPr/>
          <p:nvPr/>
        </p:nvSpPr>
        <p:spPr>
          <a:xfrm>
            <a:off x="9673975" y="1669030"/>
            <a:ext cx="372681" cy="425921"/>
          </a:xfrm>
          <a:custGeom>
            <a:avLst/>
            <a:gdLst/>
            <a:ahLst/>
            <a:cxnLst/>
            <a:rect l="l" t="t" r="r" b="b"/>
            <a:pathLst>
              <a:path w="372681" h="425921">
                <a:moveTo>
                  <a:pt x="106480" y="0"/>
                </a:moveTo>
                <a:cubicBezTo>
                  <a:pt x="121205" y="0"/>
                  <a:pt x="133100" y="11896"/>
                  <a:pt x="133100" y="26620"/>
                </a:cubicBezTo>
                <a:lnTo>
                  <a:pt x="133100" y="53240"/>
                </a:lnTo>
                <a:lnTo>
                  <a:pt x="239581" y="53240"/>
                </a:lnTo>
                <a:lnTo>
                  <a:pt x="239581" y="26620"/>
                </a:lnTo>
                <a:cubicBezTo>
                  <a:pt x="239581" y="11896"/>
                  <a:pt x="251477" y="0"/>
                  <a:pt x="266201" y="0"/>
                </a:cubicBezTo>
                <a:cubicBezTo>
                  <a:pt x="280925" y="0"/>
                  <a:pt x="292821" y="11896"/>
                  <a:pt x="292821" y="26620"/>
                </a:cubicBezTo>
                <a:lnTo>
                  <a:pt x="292821" y="53240"/>
                </a:lnTo>
                <a:lnTo>
                  <a:pt x="319441" y="53240"/>
                </a:lnTo>
                <a:cubicBezTo>
                  <a:pt x="348806" y="53240"/>
                  <a:pt x="372681" y="77115"/>
                  <a:pt x="372681" y="106480"/>
                </a:cubicBezTo>
                <a:lnTo>
                  <a:pt x="372681" y="346061"/>
                </a:lnTo>
                <a:cubicBezTo>
                  <a:pt x="372681" y="375426"/>
                  <a:pt x="348806" y="399301"/>
                  <a:pt x="319441" y="399301"/>
                </a:cubicBezTo>
                <a:lnTo>
                  <a:pt x="53240" y="399301"/>
                </a:lnTo>
                <a:cubicBezTo>
                  <a:pt x="23875" y="399301"/>
                  <a:pt x="0" y="375426"/>
                  <a:pt x="0" y="346061"/>
                </a:cubicBezTo>
                <a:lnTo>
                  <a:pt x="0" y="106480"/>
                </a:lnTo>
                <a:cubicBezTo>
                  <a:pt x="0" y="77115"/>
                  <a:pt x="23875" y="53240"/>
                  <a:pt x="53240" y="53240"/>
                </a:cubicBezTo>
                <a:lnTo>
                  <a:pt x="79860" y="53240"/>
                </a:lnTo>
                <a:lnTo>
                  <a:pt x="79860" y="26620"/>
                </a:lnTo>
                <a:cubicBezTo>
                  <a:pt x="79860" y="11896"/>
                  <a:pt x="91756" y="0"/>
                  <a:pt x="106480" y="0"/>
                </a:cubicBezTo>
                <a:close/>
                <a:moveTo>
                  <a:pt x="53240" y="199651"/>
                </a:moveTo>
                <a:lnTo>
                  <a:pt x="53240" y="226271"/>
                </a:lnTo>
                <a:cubicBezTo>
                  <a:pt x="53240" y="233591"/>
                  <a:pt x="59230" y="239581"/>
                  <a:pt x="66550" y="239581"/>
                </a:cubicBezTo>
                <a:lnTo>
                  <a:pt x="93170" y="239581"/>
                </a:lnTo>
                <a:cubicBezTo>
                  <a:pt x="100491" y="239581"/>
                  <a:pt x="106480" y="233591"/>
                  <a:pt x="106480" y="226271"/>
                </a:cubicBezTo>
                <a:lnTo>
                  <a:pt x="106480" y="199651"/>
                </a:lnTo>
                <a:cubicBezTo>
                  <a:pt x="106480" y="192330"/>
                  <a:pt x="100491" y="186341"/>
                  <a:pt x="93170" y="186341"/>
                </a:cubicBezTo>
                <a:lnTo>
                  <a:pt x="66550" y="186341"/>
                </a:lnTo>
                <a:cubicBezTo>
                  <a:pt x="59230" y="186341"/>
                  <a:pt x="53240" y="192330"/>
                  <a:pt x="53240" y="199651"/>
                </a:cubicBezTo>
                <a:close/>
                <a:moveTo>
                  <a:pt x="159721" y="199651"/>
                </a:moveTo>
                <a:lnTo>
                  <a:pt x="159721" y="226271"/>
                </a:lnTo>
                <a:cubicBezTo>
                  <a:pt x="159721" y="233591"/>
                  <a:pt x="165710" y="239581"/>
                  <a:pt x="173031" y="239581"/>
                </a:cubicBezTo>
                <a:lnTo>
                  <a:pt x="199651" y="239581"/>
                </a:lnTo>
                <a:cubicBezTo>
                  <a:pt x="206971" y="239581"/>
                  <a:pt x="212961" y="233591"/>
                  <a:pt x="212961" y="226271"/>
                </a:cubicBezTo>
                <a:lnTo>
                  <a:pt x="212961" y="199651"/>
                </a:lnTo>
                <a:cubicBezTo>
                  <a:pt x="212961" y="192330"/>
                  <a:pt x="206971" y="186341"/>
                  <a:pt x="199651" y="186341"/>
                </a:cubicBezTo>
                <a:lnTo>
                  <a:pt x="173031" y="186341"/>
                </a:lnTo>
                <a:cubicBezTo>
                  <a:pt x="165710" y="186341"/>
                  <a:pt x="159721" y="192330"/>
                  <a:pt x="159721" y="199651"/>
                </a:cubicBezTo>
                <a:close/>
                <a:moveTo>
                  <a:pt x="279511" y="186341"/>
                </a:moveTo>
                <a:cubicBezTo>
                  <a:pt x="272190" y="186341"/>
                  <a:pt x="266201" y="192330"/>
                  <a:pt x="266201" y="199651"/>
                </a:cubicBezTo>
                <a:lnTo>
                  <a:pt x="266201" y="226271"/>
                </a:lnTo>
                <a:cubicBezTo>
                  <a:pt x="266201" y="233591"/>
                  <a:pt x="272190" y="239581"/>
                  <a:pt x="279511" y="239581"/>
                </a:cubicBezTo>
                <a:lnTo>
                  <a:pt x="306131" y="239581"/>
                </a:lnTo>
                <a:cubicBezTo>
                  <a:pt x="313452" y="239581"/>
                  <a:pt x="319441" y="233591"/>
                  <a:pt x="319441" y="226271"/>
                </a:cubicBezTo>
                <a:lnTo>
                  <a:pt x="319441" y="199651"/>
                </a:lnTo>
                <a:cubicBezTo>
                  <a:pt x="319441" y="192330"/>
                  <a:pt x="313452" y="186341"/>
                  <a:pt x="306131" y="186341"/>
                </a:cubicBezTo>
                <a:lnTo>
                  <a:pt x="279511" y="186341"/>
                </a:lnTo>
                <a:close/>
                <a:moveTo>
                  <a:pt x="53240" y="306131"/>
                </a:moveTo>
                <a:lnTo>
                  <a:pt x="53240" y="332751"/>
                </a:lnTo>
                <a:cubicBezTo>
                  <a:pt x="53240" y="340072"/>
                  <a:pt x="59230" y="346061"/>
                  <a:pt x="66550" y="346061"/>
                </a:cubicBezTo>
                <a:lnTo>
                  <a:pt x="93170" y="346061"/>
                </a:lnTo>
                <a:cubicBezTo>
                  <a:pt x="100491" y="346061"/>
                  <a:pt x="106480" y="340072"/>
                  <a:pt x="106480" y="332751"/>
                </a:cubicBezTo>
                <a:lnTo>
                  <a:pt x="106480" y="306131"/>
                </a:lnTo>
                <a:cubicBezTo>
                  <a:pt x="106480" y="298810"/>
                  <a:pt x="100491" y="292821"/>
                  <a:pt x="93170" y="292821"/>
                </a:cubicBezTo>
                <a:lnTo>
                  <a:pt x="66550" y="292821"/>
                </a:lnTo>
                <a:cubicBezTo>
                  <a:pt x="59230" y="292821"/>
                  <a:pt x="53240" y="298810"/>
                  <a:pt x="53240" y="306131"/>
                </a:cubicBezTo>
                <a:close/>
                <a:moveTo>
                  <a:pt x="173031" y="292821"/>
                </a:moveTo>
                <a:cubicBezTo>
                  <a:pt x="165710" y="292821"/>
                  <a:pt x="159721" y="298810"/>
                  <a:pt x="159721" y="306131"/>
                </a:cubicBezTo>
                <a:lnTo>
                  <a:pt x="159721" y="332751"/>
                </a:lnTo>
                <a:cubicBezTo>
                  <a:pt x="159721" y="340072"/>
                  <a:pt x="165710" y="346061"/>
                  <a:pt x="173031" y="346061"/>
                </a:cubicBezTo>
                <a:lnTo>
                  <a:pt x="199651" y="346061"/>
                </a:lnTo>
                <a:cubicBezTo>
                  <a:pt x="206971" y="346061"/>
                  <a:pt x="212961" y="340072"/>
                  <a:pt x="212961" y="332751"/>
                </a:cubicBezTo>
                <a:lnTo>
                  <a:pt x="212961" y="306131"/>
                </a:lnTo>
                <a:cubicBezTo>
                  <a:pt x="212961" y="298810"/>
                  <a:pt x="206971" y="292821"/>
                  <a:pt x="199651" y="292821"/>
                </a:cubicBezTo>
                <a:lnTo>
                  <a:pt x="173031" y="292821"/>
                </a:lnTo>
                <a:close/>
                <a:moveTo>
                  <a:pt x="266201" y="306131"/>
                </a:moveTo>
                <a:lnTo>
                  <a:pt x="266201" y="332751"/>
                </a:lnTo>
                <a:cubicBezTo>
                  <a:pt x="266201" y="340072"/>
                  <a:pt x="272190" y="346061"/>
                  <a:pt x="279511" y="346061"/>
                </a:cubicBezTo>
                <a:lnTo>
                  <a:pt x="306131" y="346061"/>
                </a:lnTo>
                <a:cubicBezTo>
                  <a:pt x="313452" y="346061"/>
                  <a:pt x="319441" y="340072"/>
                  <a:pt x="319441" y="332751"/>
                </a:cubicBezTo>
                <a:lnTo>
                  <a:pt x="319441" y="306131"/>
                </a:lnTo>
                <a:cubicBezTo>
                  <a:pt x="319441" y="298810"/>
                  <a:pt x="313452" y="292821"/>
                  <a:pt x="306131" y="292821"/>
                </a:cubicBezTo>
                <a:lnTo>
                  <a:pt x="279511" y="292821"/>
                </a:lnTo>
                <a:cubicBezTo>
                  <a:pt x="272190" y="292821"/>
                  <a:pt x="266201" y="298810"/>
                  <a:pt x="266201" y="306131"/>
                </a:cubicBez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34" name="Text 32"/>
          <p:cNvSpPr/>
          <p:nvPr/>
        </p:nvSpPr>
        <p:spPr>
          <a:xfrm>
            <a:off x="8041415" y="2236926"/>
            <a:ext cx="3638079" cy="28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77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Таймлайн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094656" y="2946795"/>
            <a:ext cx="106480" cy="106480"/>
          </a:xfrm>
          <a:custGeom>
            <a:avLst/>
            <a:gdLst/>
            <a:ahLst/>
            <a:cxnLst/>
            <a:rect l="l" t="t" r="r" b="b"/>
            <a:pathLst>
              <a:path w="106480" h="106480">
                <a:moveTo>
                  <a:pt x="0" y="0"/>
                </a:moveTo>
                <a:lnTo>
                  <a:pt x="106480" y="0"/>
                </a:lnTo>
                <a:lnTo>
                  <a:pt x="106480" y="106480"/>
                </a:lnTo>
                <a:lnTo>
                  <a:pt x="0" y="10648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36" name="Text 34"/>
          <p:cNvSpPr/>
          <p:nvPr/>
        </p:nvSpPr>
        <p:spPr>
          <a:xfrm>
            <a:off x="8307616" y="2804821"/>
            <a:ext cx="1348751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Апрель 2026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07616" y="3017781"/>
            <a:ext cx="1339878" cy="17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8" dirty="0">
                <a:solidFill>
                  <a:srgbClr val="1A1A1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Запуск Founder OS Bot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094656" y="3479196"/>
            <a:ext cx="106480" cy="106480"/>
          </a:xfrm>
          <a:custGeom>
            <a:avLst/>
            <a:gdLst/>
            <a:ahLst/>
            <a:cxnLst/>
            <a:rect l="l" t="t" r="r" b="b"/>
            <a:pathLst>
              <a:path w="106480" h="106480">
                <a:moveTo>
                  <a:pt x="0" y="0"/>
                </a:moveTo>
                <a:lnTo>
                  <a:pt x="106480" y="0"/>
                </a:lnTo>
                <a:lnTo>
                  <a:pt x="106480" y="106480"/>
                </a:lnTo>
                <a:lnTo>
                  <a:pt x="0" y="10648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39" name="Text 37"/>
          <p:cNvSpPr/>
          <p:nvPr/>
        </p:nvSpPr>
        <p:spPr>
          <a:xfrm>
            <a:off x="8307616" y="3337223"/>
            <a:ext cx="1535092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Апрель-Май 2026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307616" y="3550183"/>
            <a:ext cx="1526218" cy="17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8" dirty="0">
                <a:solidFill>
                  <a:srgbClr val="1A1A1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 выездов Founder Reality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094656" y="4011598"/>
            <a:ext cx="106480" cy="106480"/>
          </a:xfrm>
          <a:custGeom>
            <a:avLst/>
            <a:gdLst/>
            <a:ahLst/>
            <a:cxnLst/>
            <a:rect l="l" t="t" r="r" b="b"/>
            <a:pathLst>
              <a:path w="106480" h="106480">
                <a:moveTo>
                  <a:pt x="0" y="0"/>
                </a:moveTo>
                <a:lnTo>
                  <a:pt x="106480" y="0"/>
                </a:lnTo>
                <a:lnTo>
                  <a:pt x="106480" y="106480"/>
                </a:lnTo>
                <a:lnTo>
                  <a:pt x="0" y="10648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42" name="Text 40"/>
          <p:cNvSpPr/>
          <p:nvPr/>
        </p:nvSpPr>
        <p:spPr>
          <a:xfrm>
            <a:off x="8307616" y="3869624"/>
            <a:ext cx="1197904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Апрель-Май 2026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307616" y="4082585"/>
            <a:ext cx="1189031" cy="17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8" dirty="0">
                <a:solidFill>
                  <a:srgbClr val="1A1A1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подкаста VC Talks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094656" y="4544000"/>
            <a:ext cx="106480" cy="106480"/>
          </a:xfrm>
          <a:custGeom>
            <a:avLst/>
            <a:gdLst/>
            <a:ahLst/>
            <a:cxnLst/>
            <a:rect l="l" t="t" r="r" b="b"/>
            <a:pathLst>
              <a:path w="106480" h="106480">
                <a:moveTo>
                  <a:pt x="0" y="0"/>
                </a:moveTo>
                <a:lnTo>
                  <a:pt x="106480" y="0"/>
                </a:lnTo>
                <a:lnTo>
                  <a:pt x="106480" y="106480"/>
                </a:lnTo>
                <a:lnTo>
                  <a:pt x="0" y="10648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45" name="Text 43"/>
          <p:cNvSpPr/>
          <p:nvPr/>
        </p:nvSpPr>
        <p:spPr>
          <a:xfrm>
            <a:off x="8307616" y="4402026"/>
            <a:ext cx="1109170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Май 2026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307616" y="4614987"/>
            <a:ext cx="1100297" cy="17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8" dirty="0">
                <a:solidFill>
                  <a:srgbClr val="1A1A1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1-й Industry Night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890568" y="5156262"/>
            <a:ext cx="3939773" cy="1384245"/>
          </a:xfrm>
          <a:custGeom>
            <a:avLst/>
            <a:gdLst/>
            <a:ahLst/>
            <a:cxnLst/>
            <a:rect l="l" t="t" r="r" b="b"/>
            <a:pathLst>
              <a:path w="3939773" h="1384245">
                <a:moveTo>
                  <a:pt x="0" y="0"/>
                </a:moveTo>
                <a:lnTo>
                  <a:pt x="3939773" y="0"/>
                </a:lnTo>
                <a:lnTo>
                  <a:pt x="3939773" y="1384245"/>
                </a:lnTo>
                <a:lnTo>
                  <a:pt x="0" y="1384245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 w="25400">
            <a:solidFill>
              <a:srgbClr val="BFFF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054725" y="5342602"/>
            <a:ext cx="212961" cy="212961"/>
          </a:xfrm>
          <a:custGeom>
            <a:avLst/>
            <a:gdLst/>
            <a:ahLst/>
            <a:cxnLst/>
            <a:rect l="l" t="t" r="r" b="b"/>
            <a:pathLst>
              <a:path w="212961" h="212961">
                <a:moveTo>
                  <a:pt x="106480" y="0"/>
                </a:moveTo>
                <a:cubicBezTo>
                  <a:pt x="112595" y="0"/>
                  <a:pt x="118210" y="3369"/>
                  <a:pt x="121121" y="8735"/>
                </a:cubicBezTo>
                <a:lnTo>
                  <a:pt x="210964" y="175110"/>
                </a:lnTo>
                <a:cubicBezTo>
                  <a:pt x="213751" y="180268"/>
                  <a:pt x="213626" y="186507"/>
                  <a:pt x="210631" y="191540"/>
                </a:cubicBezTo>
                <a:cubicBezTo>
                  <a:pt x="207637" y="196573"/>
                  <a:pt x="202188" y="199651"/>
                  <a:pt x="196323" y="199651"/>
                </a:cubicBezTo>
                <a:lnTo>
                  <a:pt x="16638" y="199651"/>
                </a:lnTo>
                <a:cubicBezTo>
                  <a:pt x="10773" y="199651"/>
                  <a:pt x="5366" y="196573"/>
                  <a:pt x="2329" y="191540"/>
                </a:cubicBezTo>
                <a:cubicBezTo>
                  <a:pt x="-707" y="186507"/>
                  <a:pt x="-790" y="180268"/>
                  <a:pt x="1997" y="175110"/>
                </a:cubicBezTo>
                <a:lnTo>
                  <a:pt x="91839" y="8735"/>
                </a:lnTo>
                <a:cubicBezTo>
                  <a:pt x="94751" y="3369"/>
                  <a:pt x="100366" y="0"/>
                  <a:pt x="106480" y="0"/>
                </a:cubicBezTo>
                <a:close/>
                <a:moveTo>
                  <a:pt x="106480" y="69878"/>
                </a:moveTo>
                <a:cubicBezTo>
                  <a:pt x="100948" y="69878"/>
                  <a:pt x="96498" y="74328"/>
                  <a:pt x="96498" y="79860"/>
                </a:cubicBezTo>
                <a:lnTo>
                  <a:pt x="96498" y="126445"/>
                </a:lnTo>
                <a:cubicBezTo>
                  <a:pt x="96498" y="131977"/>
                  <a:pt x="100948" y="136428"/>
                  <a:pt x="106480" y="136428"/>
                </a:cubicBezTo>
                <a:cubicBezTo>
                  <a:pt x="112012" y="136428"/>
                  <a:pt x="116463" y="131977"/>
                  <a:pt x="116463" y="126445"/>
                </a:cubicBezTo>
                <a:lnTo>
                  <a:pt x="116463" y="79860"/>
                </a:lnTo>
                <a:cubicBezTo>
                  <a:pt x="116463" y="74328"/>
                  <a:pt x="112012" y="69878"/>
                  <a:pt x="106480" y="69878"/>
                </a:cubicBezTo>
                <a:close/>
                <a:moveTo>
                  <a:pt x="117586" y="159721"/>
                </a:moveTo>
                <a:cubicBezTo>
                  <a:pt x="117839" y="155598"/>
                  <a:pt x="115783" y="151676"/>
                  <a:pt x="112249" y="149539"/>
                </a:cubicBezTo>
                <a:cubicBezTo>
                  <a:pt x="108715" y="147401"/>
                  <a:pt x="104287" y="147401"/>
                  <a:pt x="100753" y="149539"/>
                </a:cubicBezTo>
                <a:cubicBezTo>
                  <a:pt x="97220" y="151676"/>
                  <a:pt x="95164" y="155598"/>
                  <a:pt x="95416" y="159721"/>
                </a:cubicBezTo>
                <a:cubicBezTo>
                  <a:pt x="95164" y="163843"/>
                  <a:pt x="97220" y="167765"/>
                  <a:pt x="100753" y="169902"/>
                </a:cubicBezTo>
                <a:cubicBezTo>
                  <a:pt x="104287" y="172040"/>
                  <a:pt x="108715" y="172040"/>
                  <a:pt x="112249" y="169902"/>
                </a:cubicBezTo>
                <a:cubicBezTo>
                  <a:pt x="115783" y="167765"/>
                  <a:pt x="117839" y="163843"/>
                  <a:pt x="117586" y="159721"/>
                </a:cubicBez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49" name="Text 47"/>
          <p:cNvSpPr/>
          <p:nvPr/>
        </p:nvSpPr>
        <p:spPr>
          <a:xfrm>
            <a:off x="8349072" y="5342602"/>
            <a:ext cx="3371878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Важно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349072" y="5662044"/>
            <a:ext cx="3363004" cy="692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8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Мы ищем </a:t>
            </a:r>
            <a:r>
              <a:rPr lang="en-US" sz="111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только одного</a:t>
            </a:r>
            <a:r>
              <a:rPr lang="en-US" sz="1118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якорного партнера. Локация, которая зайдет в проект сейчас, </a:t>
            </a:r>
            <a:r>
              <a:rPr lang="en-US" sz="1118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заберет весь трафик</a:t>
            </a:r>
            <a:r>
              <a:rPr lang="en-US" sz="1118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венчурного рынка.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officebanao.com/6124e8557008f756045f39f353914274d3412ab4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7771" b="777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A1A">
                  <a:alpha val="95000"/>
                </a:srgbClr>
              </a:gs>
              <a:gs pos="50000">
                <a:srgbClr val="1A1A1A">
                  <a:alpha val="90000"/>
                </a:srgbClr>
              </a:gs>
              <a:gs pos="100000">
                <a:srgbClr val="1A1A1A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395912" y="377300"/>
            <a:ext cx="1400175" cy="381000"/>
          </a:xfrm>
          <a:custGeom>
            <a:avLst/>
            <a:gdLst/>
            <a:ahLst/>
            <a:cxnLst/>
            <a:rect l="l" t="t" r="r" b="b"/>
            <a:pathLst>
              <a:path w="1400175" h="381000">
                <a:moveTo>
                  <a:pt x="0" y="0"/>
                </a:moveTo>
                <a:lnTo>
                  <a:pt x="1400175" y="0"/>
                </a:lnTo>
                <a:lnTo>
                  <a:pt x="140017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5" name="Text 2"/>
          <p:cNvSpPr/>
          <p:nvPr/>
        </p:nvSpPr>
        <p:spPr>
          <a:xfrm>
            <a:off x="5357812" y="377300"/>
            <a:ext cx="1476375" cy="381000"/>
          </a:xfrm>
          <a:prstGeom prst="rect">
            <a:avLst/>
          </a:prstGeom>
          <a:noFill/>
          <a:ln/>
        </p:spPr>
        <p:txBody>
          <a:bodyPr wrap="square" lIns="228600" tIns="76200" rIns="228600" bIns="76200" rtlCol="0" anchor="ctr"/>
          <a:lstStyle/>
          <a:p>
            <a:pPr algn="ctr">
              <a:lnSpc>
                <a:spcPct val="130000"/>
              </a:lnSpc>
            </a:pPr>
            <a:r>
              <a:rPr lang="en-US" sz="1200" b="1" kern="0" spc="12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КОНТАКТЫ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294259" y="1063100"/>
            <a:ext cx="76009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Архитектура важнее хайпа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103759" y="1543317"/>
            <a:ext cx="79819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Давайте сделаем ваш коворкинг местом, где делаются </a:t>
            </a:r>
            <a:r>
              <a:rPr lang="en-US" sz="1800" b="1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главные сделки</a:t>
            </a: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в Узнете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847850" y="2591067"/>
            <a:ext cx="4095750" cy="2114550"/>
          </a:xfrm>
          <a:custGeom>
            <a:avLst/>
            <a:gdLst/>
            <a:ahLst/>
            <a:cxnLst/>
            <a:rect l="l" t="t" r="r" b="b"/>
            <a:pathLst>
              <a:path w="4095750" h="2114550">
                <a:moveTo>
                  <a:pt x="0" y="0"/>
                </a:moveTo>
                <a:lnTo>
                  <a:pt x="4095750" y="0"/>
                </a:lnTo>
                <a:lnTo>
                  <a:pt x="4095750" y="2114550"/>
                </a:lnTo>
                <a:lnTo>
                  <a:pt x="0" y="2114550"/>
                </a:lnTo>
                <a:lnTo>
                  <a:pt x="0" y="0"/>
                </a:lnTo>
                <a:close/>
              </a:path>
            </a:pathLst>
          </a:custGeom>
          <a:solidFill>
            <a:srgbClr val="262626">
              <a:alpha val="8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1847850" y="2591067"/>
            <a:ext cx="38100" cy="2114550"/>
          </a:xfrm>
          <a:custGeom>
            <a:avLst/>
            <a:gdLst/>
            <a:ahLst/>
            <a:cxnLst/>
            <a:rect l="l" t="t" r="r" b="b"/>
            <a:pathLst>
              <a:path w="38100" h="2114550">
                <a:moveTo>
                  <a:pt x="0" y="0"/>
                </a:moveTo>
                <a:lnTo>
                  <a:pt x="38100" y="0"/>
                </a:lnTo>
                <a:lnTo>
                  <a:pt x="38100" y="2114550"/>
                </a:lnTo>
                <a:lnTo>
                  <a:pt x="0" y="211455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10" name="Shape 7"/>
          <p:cNvSpPr/>
          <p:nvPr/>
        </p:nvSpPr>
        <p:spPr>
          <a:xfrm>
            <a:off x="2171700" y="2895867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11" name="Shape 8"/>
          <p:cNvSpPr/>
          <p:nvPr/>
        </p:nvSpPr>
        <p:spPr>
          <a:xfrm>
            <a:off x="2376488" y="3086367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71361"/>
                  <a:pt x="157252" y="135731"/>
                  <a:pt x="113273" y="135731"/>
                </a:cubicBezTo>
                <a:lnTo>
                  <a:pt x="86752" y="135731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12" name="Text 9"/>
          <p:cNvSpPr/>
          <p:nvPr/>
        </p:nvSpPr>
        <p:spPr>
          <a:xfrm>
            <a:off x="2933700" y="2933967"/>
            <a:ext cx="1533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Акмал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933700" y="3238767"/>
            <a:ext cx="149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Founder OS Architect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171700" y="3657867"/>
            <a:ext cx="2929571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Системная архитектура и AI. Отвечает за техническую инфраструктуру, бизнес процессы и AI-инструменты.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67450" y="2591067"/>
            <a:ext cx="4095750" cy="2114550"/>
          </a:xfrm>
          <a:custGeom>
            <a:avLst/>
            <a:gdLst/>
            <a:ahLst/>
            <a:cxnLst/>
            <a:rect l="l" t="t" r="r" b="b"/>
            <a:pathLst>
              <a:path w="4095750" h="2114550">
                <a:moveTo>
                  <a:pt x="0" y="0"/>
                </a:moveTo>
                <a:lnTo>
                  <a:pt x="4095750" y="0"/>
                </a:lnTo>
                <a:lnTo>
                  <a:pt x="4095750" y="2114550"/>
                </a:lnTo>
                <a:lnTo>
                  <a:pt x="0" y="2114550"/>
                </a:lnTo>
                <a:lnTo>
                  <a:pt x="0" y="0"/>
                </a:lnTo>
                <a:close/>
              </a:path>
            </a:pathLst>
          </a:custGeom>
          <a:solidFill>
            <a:srgbClr val="262626">
              <a:alpha val="8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6267450" y="2591067"/>
            <a:ext cx="38100" cy="2114550"/>
          </a:xfrm>
          <a:custGeom>
            <a:avLst/>
            <a:gdLst/>
            <a:ahLst/>
            <a:cxnLst/>
            <a:rect l="l" t="t" r="r" b="b"/>
            <a:pathLst>
              <a:path w="38100" h="2114550">
                <a:moveTo>
                  <a:pt x="0" y="0"/>
                </a:moveTo>
                <a:lnTo>
                  <a:pt x="38100" y="0"/>
                </a:lnTo>
                <a:lnTo>
                  <a:pt x="38100" y="2114550"/>
                </a:lnTo>
                <a:lnTo>
                  <a:pt x="0" y="211455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17" name="Shape 14"/>
          <p:cNvSpPr/>
          <p:nvPr/>
        </p:nvSpPr>
        <p:spPr>
          <a:xfrm>
            <a:off x="6591300" y="2895867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18" name="Shape 15"/>
          <p:cNvSpPr/>
          <p:nvPr/>
        </p:nvSpPr>
        <p:spPr>
          <a:xfrm>
            <a:off x="6796088" y="3086367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71361"/>
                  <a:pt x="157252" y="135731"/>
                  <a:pt x="113273" y="135731"/>
                </a:cubicBezTo>
                <a:lnTo>
                  <a:pt x="86752" y="135731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19" name="Text 16"/>
          <p:cNvSpPr/>
          <p:nvPr/>
        </p:nvSpPr>
        <p:spPr>
          <a:xfrm>
            <a:off x="7353300" y="2933967"/>
            <a:ext cx="1181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Нуриддин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353300" y="3238767"/>
            <a:ext cx="18459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BFFF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Untitled Ecosystem Lead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591300" y="3657867"/>
            <a:ext cx="305231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Операции, комьюнити и медиа. Отвечает за партнерства и контент-стратегию.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835375" y="5140148"/>
            <a:ext cx="4524375" cy="914400"/>
          </a:xfrm>
          <a:custGeom>
            <a:avLst/>
            <a:gdLst/>
            <a:ahLst/>
            <a:cxnLst/>
            <a:rect l="l" t="t" r="r" b="b"/>
            <a:pathLst>
              <a:path w="4524375" h="914400">
                <a:moveTo>
                  <a:pt x="0" y="0"/>
                </a:moveTo>
                <a:lnTo>
                  <a:pt x="4524375" y="0"/>
                </a:lnTo>
                <a:lnTo>
                  <a:pt x="4524375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23" name="Text 20"/>
          <p:cNvSpPr/>
          <p:nvPr/>
        </p:nvSpPr>
        <p:spPr>
          <a:xfrm>
            <a:off x="4395788" y="5165548"/>
            <a:ext cx="3400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A1A1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Свяжитесь с нами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3835375" y="5620808"/>
            <a:ext cx="4524375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+998937687300 / +998881250666 </a:t>
            </a:r>
          </a:p>
          <a:p>
            <a:pPr algn="ctr">
              <a:lnSpc>
                <a:spcPct val="120000"/>
              </a:lnSpc>
            </a:pPr>
            <a:r>
              <a:rPr lang="en-US" sz="1500" b="1" dirty="0" err="1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instagram</a:t>
            </a: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untitled.uz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4647084" y="6577013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  <p:sp>
        <p:nvSpPr>
          <p:cNvPr id="26" name="Text 23"/>
          <p:cNvSpPr/>
          <p:nvPr/>
        </p:nvSpPr>
        <p:spPr>
          <a:xfrm>
            <a:off x="5370984" y="6472238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UNTITLED 2.0 © 2026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935242" y="6577013"/>
            <a:ext cx="609600" cy="19050"/>
          </a:xfrm>
          <a:custGeom>
            <a:avLst/>
            <a:gdLst/>
            <a:ahLst/>
            <a:cxnLst/>
            <a:rect l="l" t="t" r="r" b="b"/>
            <a:pathLst>
              <a:path w="609600" h="19050">
                <a:moveTo>
                  <a:pt x="0" y="0"/>
                </a:moveTo>
                <a:lnTo>
                  <a:pt x="609600" y="0"/>
                </a:lnTo>
                <a:lnTo>
                  <a:pt x="6096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BFFF00"/>
          </a:solidFill>
          <a:ln/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909</Words>
  <Application>Microsoft Macintosh PowerPoint</Application>
  <PresentationFormat>Widescreen</PresentationFormat>
  <Paragraphs>184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Liter</vt:lpstr>
      <vt:lpstr>Quattrocento Sans</vt:lpstr>
      <vt:lpstr>微软雅黑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2.0 — Партнерский Питч Дек</dc:title>
  <dc:subject>UNTITLED 2.0 — Партнерский Питч Дек</dc:subject>
  <dc:creator>Kimi</dc:creator>
  <cp:lastModifiedBy>Akmal Rustamov</cp:lastModifiedBy>
  <cp:revision>4</cp:revision>
  <dcterms:created xsi:type="dcterms:W3CDTF">2026-03-25T18:43:14Z</dcterms:created>
  <dcterms:modified xsi:type="dcterms:W3CDTF">2026-03-25T19:19:19Z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{"Label":"UNTITLED 2.0 — Партнерский Питч Дек","ContentProducer":"001191110108MACG2KBH8F10000","ProduceID":"19d2637e-1fe2-83f9-8000-00009086d793","ReservedCode1":"","ContentPropagator":"001191110108MACG2KBH8F20000","PropagateID":"19d2637e-1fe2-83f9-8000-00009086d793","ReservedCode2":""}</vt:lpwstr>
  </property>
</Properties>
</file>